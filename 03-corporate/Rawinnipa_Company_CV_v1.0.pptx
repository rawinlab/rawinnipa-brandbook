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2520696" cy="182880"/>
          </a:xfrm>
          <a:prstGeom prst="rect">
            <a:avLst/>
          </a:prstGeom>
          <a:solidFill>
            <a:srgbClr val="23B591"/>
          </a:solidFill>
          <a:ln w="12700">
            <a:solidFill>
              <a:srgbClr val="333333"/>
            </a:solidFill>
            <a:prstDash val="solid"/>
          </a:ln>
        </p:spPr>
      </p:sp>
      <p:sp>
        <p:nvSpPr>
          <p:cNvPr id="3" name="Shape 1"/>
          <p:cNvSpPr/>
          <p:nvPr/>
        </p:nvSpPr>
        <p:spPr>
          <a:xfrm>
            <a:off x="2520696" y="0"/>
            <a:ext cx="2520696" cy="182880"/>
          </a:xfrm>
          <a:prstGeom prst="rect">
            <a:avLst/>
          </a:prstGeom>
          <a:solidFill>
            <a:srgbClr val="3EDC81"/>
          </a:solidFill>
          <a:ln w="12700">
            <a:solidFill>
              <a:srgbClr val="333333"/>
            </a:solidFill>
            <a:prstDash val="solid"/>
          </a:ln>
        </p:spPr>
      </p:sp>
      <p:sp>
        <p:nvSpPr>
          <p:cNvPr id="4" name="Shape 2"/>
          <p:cNvSpPr/>
          <p:nvPr/>
        </p:nvSpPr>
        <p:spPr>
          <a:xfrm>
            <a:off x="5041392" y="0"/>
            <a:ext cx="2520696" cy="182880"/>
          </a:xfrm>
          <a:prstGeom prst="rect">
            <a:avLst/>
          </a:prstGeom>
          <a:solidFill>
            <a:srgbClr val="9DC351"/>
          </a:solidFill>
          <a:ln w="12700">
            <a:solidFill>
              <a:srgbClr val="333333"/>
            </a:solidFill>
            <a:prstDash val="solid"/>
          </a:ln>
        </p:spPr>
      </p:sp>
      <p:pic>
        <p:nvPicPr>
          <p:cNvPr id="5" name="Image 0" descr="/home/claude/brand_ci/assets/logo_color.png">    </p:cNvPr>
          <p:cNvPicPr>
            <a:picLocks noChangeAspect="1"/>
          </p:cNvPicPr>
          <p:nvPr/>
        </p:nvPicPr>
        <p:blipFill>
          <a:blip r:embed="rId1"/>
          <a:stretch>
            <a:fillRect/>
          </a:stretch>
        </p:blipFill>
        <p:spPr>
          <a:xfrm>
            <a:off x="457200" y="502920"/>
            <a:ext cx="822960" cy="822960"/>
          </a:xfrm>
          <a:prstGeom prst="rect">
            <a:avLst/>
          </a:prstGeom>
        </p:spPr>
      </p:pic>
      <p:sp>
        <p:nvSpPr>
          <p:cNvPr id="6" name="Text 3"/>
          <p:cNvSpPr/>
          <p:nvPr/>
        </p:nvSpPr>
        <p:spPr>
          <a:xfrm>
            <a:off x="1417320" y="594360"/>
            <a:ext cx="4114800" cy="365760"/>
          </a:xfrm>
          <a:prstGeom prst="rect">
            <a:avLst/>
          </a:prstGeom>
          <a:noFill/>
          <a:ln/>
        </p:spPr>
        <p:txBody>
          <a:bodyPr wrap="square" rtlCol="0" anchor="ctr"/>
          <a:lstStyle/>
          <a:p>
            <a:pPr indent="0" marL="0">
              <a:buNone/>
            </a:pPr>
            <a:r>
              <a:rPr lang="en-US" sz="2000" b="1" spc="400" kern="0" dirty="0">
                <a:solidFill>
                  <a:srgbClr val="FFFFFF"/>
                </a:solidFill>
                <a:latin typeface="Calibri" pitchFamily="34" charset="0"/>
                <a:ea typeface="Calibri" pitchFamily="34" charset="-122"/>
                <a:cs typeface="Calibri" pitchFamily="34" charset="-120"/>
              </a:rPr>
              <a:t>RAWINNIPA</a:t>
            </a:r>
            <a:endParaRPr lang="en-US" sz="2000" dirty="0"/>
          </a:p>
        </p:txBody>
      </p:sp>
      <p:sp>
        <p:nvSpPr>
          <p:cNvPr id="7" name="Text 4"/>
          <p:cNvSpPr/>
          <p:nvPr/>
        </p:nvSpPr>
        <p:spPr>
          <a:xfrm>
            <a:off x="1417320" y="960120"/>
            <a:ext cx="4114800" cy="274320"/>
          </a:xfrm>
          <a:prstGeom prst="rect">
            <a:avLst/>
          </a:prstGeom>
          <a:noFill/>
          <a:ln/>
        </p:spPr>
        <p:txBody>
          <a:bodyPr wrap="square" rtlCol="0" anchor="ctr"/>
          <a:lstStyle/>
          <a:p>
            <a:pPr indent="0" marL="0">
              <a:buNone/>
            </a:pPr>
            <a:r>
              <a:rPr lang="en-US" sz="1000" spc="200" kern="0" dirty="0">
                <a:solidFill>
                  <a:srgbClr val="3EDC81"/>
                </a:solidFill>
                <a:latin typeface="Calibri" pitchFamily="34" charset="0"/>
                <a:ea typeface="Calibri" pitchFamily="34" charset="-122"/>
                <a:cs typeface="Calibri" pitchFamily="34" charset="-120"/>
              </a:rPr>
              <a:t>Software and Consultants Company</a:t>
            </a:r>
            <a:endParaRPr lang="en-US" sz="1000" dirty="0"/>
          </a:p>
        </p:txBody>
      </p:sp>
      <p:sp>
        <p:nvSpPr>
          <p:cNvPr id="8" name="Text 5"/>
          <p:cNvSpPr/>
          <p:nvPr/>
        </p:nvSpPr>
        <p:spPr>
          <a:xfrm>
            <a:off x="5276088" y="594360"/>
            <a:ext cx="1828800" cy="228600"/>
          </a:xfrm>
          <a:prstGeom prst="rect">
            <a:avLst/>
          </a:prstGeom>
          <a:noFill/>
          <a:ln/>
        </p:spPr>
        <p:txBody>
          <a:bodyPr wrap="square" rtlCol="0" anchor="ctr"/>
          <a:lstStyle/>
          <a:p>
            <a:pPr algn="r" indent="0" marL="0">
              <a:buNone/>
            </a:pPr>
            <a:r>
              <a:rPr lang="en-US" sz="900" b="1" spc="500" kern="0" dirty="0">
                <a:solidFill>
                  <a:srgbClr val="9CA3AF"/>
                </a:solidFill>
                <a:latin typeface="Calibri" pitchFamily="34" charset="0"/>
                <a:ea typeface="Calibri" pitchFamily="34" charset="-122"/>
                <a:cs typeface="Calibri" pitchFamily="34" charset="-120"/>
              </a:rPr>
              <a:t>COMPANY CV</a:t>
            </a:r>
            <a:endParaRPr lang="en-US" sz="900" dirty="0"/>
          </a:p>
        </p:txBody>
      </p:sp>
      <p:sp>
        <p:nvSpPr>
          <p:cNvPr id="9" name="Text 6"/>
          <p:cNvSpPr/>
          <p:nvPr/>
        </p:nvSpPr>
        <p:spPr>
          <a:xfrm>
            <a:off x="5276088" y="841248"/>
            <a:ext cx="1828800" cy="228600"/>
          </a:xfrm>
          <a:prstGeom prst="rect">
            <a:avLst/>
          </a:prstGeom>
          <a:noFill/>
          <a:ln/>
        </p:spPr>
        <p:txBody>
          <a:bodyPr wrap="square" rtlCol="0" anchor="ctr"/>
          <a:lstStyle/>
          <a:p>
            <a:pPr algn="r" indent="0" marL="0">
              <a:buNone/>
            </a:pPr>
            <a:r>
              <a:rPr lang="en-US" sz="800" spc="300" kern="0" dirty="0">
                <a:solidFill>
                  <a:srgbClr val="4A4A4A"/>
                </a:solidFill>
                <a:latin typeface="Calibri" pitchFamily="34" charset="0"/>
                <a:ea typeface="Calibri" pitchFamily="34" charset="-122"/>
                <a:cs typeface="Calibri" pitchFamily="34" charset="-120"/>
              </a:rPr>
              <a:t>VERSION 1.0  /  APRIL 2026</a:t>
            </a:r>
            <a:endParaRPr lang="en-US" sz="800" dirty="0"/>
          </a:p>
        </p:txBody>
      </p:sp>
      <p:sp>
        <p:nvSpPr>
          <p:cNvPr id="10" name="Text 7"/>
          <p:cNvSpPr/>
          <p:nvPr/>
        </p:nvSpPr>
        <p:spPr>
          <a:xfrm>
            <a:off x="457200" y="1737360"/>
            <a:ext cx="6647688" cy="6400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Build what moves.</a:t>
            </a:r>
            <a:endParaRPr lang="en-US" sz="3600" dirty="0"/>
          </a:p>
        </p:txBody>
      </p:sp>
      <p:sp>
        <p:nvSpPr>
          <p:cNvPr id="11" name="Text 8"/>
          <p:cNvSpPr/>
          <p:nvPr/>
        </p:nvSpPr>
        <p:spPr>
          <a:xfrm>
            <a:off x="457200" y="2423160"/>
            <a:ext cx="6647688" cy="548640"/>
          </a:xfrm>
          <a:prstGeom prst="rect">
            <a:avLst/>
          </a:prstGeom>
          <a:noFill/>
          <a:ln/>
        </p:spPr>
        <p:txBody>
          <a:bodyPr wrap="square" rtlCol="0" anchor="ctr"/>
          <a:lstStyle/>
          <a:p>
            <a:pPr indent="0" marL="0">
              <a:buNone/>
            </a:pPr>
            <a:r>
              <a:rPr lang="en-US" sz="1200" dirty="0">
                <a:solidFill>
                  <a:srgbClr val="D1D5DB"/>
                </a:solidFill>
                <a:latin typeface="Calibri" pitchFamily="34" charset="0"/>
                <a:ea typeface="Calibri" pitchFamily="34" charset="-122"/>
                <a:cs typeface="Calibri" pitchFamily="34" charset="-120"/>
              </a:rPr>
              <a:t>Design, analysis, and development of technology solutions — tailored to your business, built to last.</a:t>
            </a:r>
            <a:endParaRPr lang="en-US" sz="1200" dirty="0"/>
          </a:p>
        </p:txBody>
      </p:sp>
      <p:sp>
        <p:nvSpPr>
          <p:cNvPr id="12" name="Shape 9"/>
          <p:cNvSpPr/>
          <p:nvPr/>
        </p:nvSpPr>
        <p:spPr>
          <a:xfrm>
            <a:off x="457200" y="3291840"/>
            <a:ext cx="45720" cy="1188720"/>
          </a:xfrm>
          <a:prstGeom prst="rect">
            <a:avLst/>
          </a:prstGeom>
          <a:solidFill>
            <a:srgbClr val="3EDC81"/>
          </a:solidFill>
          <a:ln w="12700">
            <a:solidFill>
              <a:srgbClr val="333333"/>
            </a:solidFill>
            <a:prstDash val="solid"/>
          </a:ln>
        </p:spPr>
      </p:sp>
      <p:sp>
        <p:nvSpPr>
          <p:cNvPr id="13" name="Text 10"/>
          <p:cNvSpPr/>
          <p:nvPr/>
        </p:nvSpPr>
        <p:spPr>
          <a:xfrm>
            <a:off x="594360" y="3291840"/>
            <a:ext cx="1479042" cy="640080"/>
          </a:xfrm>
          <a:prstGeom prst="rect">
            <a:avLst/>
          </a:prstGeom>
          <a:noFill/>
          <a:ln/>
        </p:spPr>
        <p:txBody>
          <a:bodyPr wrap="square" rtlCol="0" anchor="ctr"/>
          <a:lstStyle/>
          <a:p>
            <a:pPr indent="0" marL="0">
              <a:buNone/>
            </a:pPr>
            <a:r>
              <a:rPr lang="en-US" sz="4000" b="1" dirty="0">
                <a:solidFill>
                  <a:srgbClr val="3EDC81"/>
                </a:solidFill>
                <a:latin typeface="Calibri" pitchFamily="34" charset="0"/>
                <a:ea typeface="Calibri" pitchFamily="34" charset="-122"/>
                <a:cs typeface="Calibri" pitchFamily="34" charset="-120"/>
              </a:rPr>
              <a:t>12+</a:t>
            </a:r>
            <a:endParaRPr lang="en-US" sz="4000" dirty="0"/>
          </a:p>
        </p:txBody>
      </p:sp>
      <p:sp>
        <p:nvSpPr>
          <p:cNvPr id="14" name="Text 11"/>
          <p:cNvSpPr/>
          <p:nvPr/>
        </p:nvSpPr>
        <p:spPr>
          <a:xfrm>
            <a:off x="594360" y="3977640"/>
            <a:ext cx="1479042" cy="457200"/>
          </a:xfrm>
          <a:prstGeom prst="rect">
            <a:avLst/>
          </a:prstGeom>
          <a:noFill/>
          <a:ln/>
        </p:spPr>
        <p:txBody>
          <a:bodyPr wrap="square" rtlCol="0" anchor="ctr"/>
          <a:lstStyle/>
          <a:p>
            <a:pPr indent="0" marL="0">
              <a:buNone/>
            </a:pPr>
            <a:r>
              <a:rPr lang="en-US" sz="800" spc="300" kern="0" dirty="0">
                <a:solidFill>
                  <a:srgbClr val="D1D5DB"/>
                </a:solidFill>
                <a:latin typeface="Calibri" pitchFamily="34" charset="0"/>
                <a:ea typeface="Calibri" pitchFamily="34" charset="-122"/>
                <a:cs typeface="Calibri" pitchFamily="34" charset="-120"/>
              </a:rPr>
              <a:t>YEARS OF</a:t>
            </a:r>
            <a:endParaRPr lang="en-US" sz="800" dirty="0"/>
          </a:p>
          <a:p>
            <a:pPr indent="0" marL="0">
              <a:buNone/>
            </a:pPr>
            <a:r>
              <a:rPr lang="en-US" sz="800" spc="300" kern="0" dirty="0">
                <a:solidFill>
                  <a:srgbClr val="D1D5DB"/>
                </a:solidFill>
                <a:latin typeface="Calibri" pitchFamily="34" charset="0"/>
                <a:ea typeface="Calibri" pitchFamily="34" charset="-122"/>
                <a:cs typeface="Calibri" pitchFamily="34" charset="-120"/>
              </a:rPr>
              <a:t>SYSTEM DELIVERY</a:t>
            </a:r>
            <a:endParaRPr lang="en-US" sz="800" dirty="0"/>
          </a:p>
        </p:txBody>
      </p:sp>
      <p:sp>
        <p:nvSpPr>
          <p:cNvPr id="15" name="Shape 12"/>
          <p:cNvSpPr/>
          <p:nvPr/>
        </p:nvSpPr>
        <p:spPr>
          <a:xfrm>
            <a:off x="2119122" y="3474720"/>
            <a:ext cx="9144" cy="822960"/>
          </a:xfrm>
          <a:prstGeom prst="rect">
            <a:avLst/>
          </a:prstGeom>
          <a:solidFill>
            <a:srgbClr val="2A2A2A"/>
          </a:solidFill>
          <a:ln w="12700">
            <a:solidFill>
              <a:srgbClr val="333333"/>
            </a:solidFill>
            <a:prstDash val="solid"/>
          </a:ln>
        </p:spPr>
      </p:sp>
      <p:sp>
        <p:nvSpPr>
          <p:cNvPr id="16" name="Text 13"/>
          <p:cNvSpPr/>
          <p:nvPr/>
        </p:nvSpPr>
        <p:spPr>
          <a:xfrm>
            <a:off x="2256282" y="3291840"/>
            <a:ext cx="1479042" cy="640080"/>
          </a:xfrm>
          <a:prstGeom prst="rect">
            <a:avLst/>
          </a:prstGeom>
          <a:noFill/>
          <a:ln/>
        </p:spPr>
        <p:txBody>
          <a:bodyPr wrap="square" rtlCol="0" anchor="ctr"/>
          <a:lstStyle/>
          <a:p>
            <a:pPr indent="0" marL="0">
              <a:buNone/>
            </a:pPr>
            <a:r>
              <a:rPr lang="en-US" sz="4000" b="1" dirty="0">
                <a:solidFill>
                  <a:srgbClr val="3EDC81"/>
                </a:solidFill>
                <a:latin typeface="Calibri" pitchFamily="34" charset="0"/>
                <a:ea typeface="Calibri" pitchFamily="34" charset="-122"/>
                <a:cs typeface="Calibri" pitchFamily="34" charset="-120"/>
              </a:rPr>
              <a:t>50+</a:t>
            </a:r>
            <a:endParaRPr lang="en-US" sz="4000" dirty="0"/>
          </a:p>
        </p:txBody>
      </p:sp>
      <p:sp>
        <p:nvSpPr>
          <p:cNvPr id="17" name="Text 14"/>
          <p:cNvSpPr/>
          <p:nvPr/>
        </p:nvSpPr>
        <p:spPr>
          <a:xfrm>
            <a:off x="2256282" y="3977640"/>
            <a:ext cx="1479042" cy="457200"/>
          </a:xfrm>
          <a:prstGeom prst="rect">
            <a:avLst/>
          </a:prstGeom>
          <a:noFill/>
          <a:ln/>
        </p:spPr>
        <p:txBody>
          <a:bodyPr wrap="square" rtlCol="0" anchor="ctr"/>
          <a:lstStyle/>
          <a:p>
            <a:pPr indent="0" marL="0">
              <a:buNone/>
            </a:pPr>
            <a:r>
              <a:rPr lang="en-US" sz="800" spc="300" kern="0" dirty="0">
                <a:solidFill>
                  <a:srgbClr val="D1D5DB"/>
                </a:solidFill>
                <a:latin typeface="Calibri" pitchFamily="34" charset="0"/>
                <a:ea typeface="Calibri" pitchFamily="34" charset="-122"/>
                <a:cs typeface="Calibri" pitchFamily="34" charset="-120"/>
              </a:rPr>
              <a:t>PROJECTS</a:t>
            </a:r>
            <a:endParaRPr lang="en-US" sz="800" dirty="0"/>
          </a:p>
          <a:p>
            <a:pPr indent="0" marL="0">
              <a:buNone/>
            </a:pPr>
            <a:r>
              <a:rPr lang="en-US" sz="800" spc="300" kern="0" dirty="0">
                <a:solidFill>
                  <a:srgbClr val="D1D5DB"/>
                </a:solidFill>
                <a:latin typeface="Calibri" pitchFamily="34" charset="0"/>
                <a:ea typeface="Calibri" pitchFamily="34" charset="-122"/>
                <a:cs typeface="Calibri" pitchFamily="34" charset="-120"/>
              </a:rPr>
              <a:t>SHIPPED</a:t>
            </a:r>
            <a:endParaRPr lang="en-US" sz="800" dirty="0"/>
          </a:p>
        </p:txBody>
      </p:sp>
      <p:sp>
        <p:nvSpPr>
          <p:cNvPr id="18" name="Shape 15"/>
          <p:cNvSpPr/>
          <p:nvPr/>
        </p:nvSpPr>
        <p:spPr>
          <a:xfrm>
            <a:off x="3781044" y="3474720"/>
            <a:ext cx="9144" cy="822960"/>
          </a:xfrm>
          <a:prstGeom prst="rect">
            <a:avLst/>
          </a:prstGeom>
          <a:solidFill>
            <a:srgbClr val="2A2A2A"/>
          </a:solidFill>
          <a:ln w="12700">
            <a:solidFill>
              <a:srgbClr val="333333"/>
            </a:solidFill>
            <a:prstDash val="solid"/>
          </a:ln>
        </p:spPr>
      </p:sp>
      <p:sp>
        <p:nvSpPr>
          <p:cNvPr id="19" name="Text 16"/>
          <p:cNvSpPr/>
          <p:nvPr/>
        </p:nvSpPr>
        <p:spPr>
          <a:xfrm>
            <a:off x="3918204" y="3291840"/>
            <a:ext cx="1479042" cy="640080"/>
          </a:xfrm>
          <a:prstGeom prst="rect">
            <a:avLst/>
          </a:prstGeom>
          <a:noFill/>
          <a:ln/>
        </p:spPr>
        <p:txBody>
          <a:bodyPr wrap="square" rtlCol="0" anchor="ctr"/>
          <a:lstStyle/>
          <a:p>
            <a:pPr indent="0" marL="0">
              <a:buNone/>
            </a:pPr>
            <a:r>
              <a:rPr lang="en-US" sz="4000" b="1" dirty="0">
                <a:solidFill>
                  <a:srgbClr val="3EDC81"/>
                </a:solidFill>
                <a:latin typeface="Calibri" pitchFamily="34" charset="0"/>
                <a:ea typeface="Calibri" pitchFamily="34" charset="-122"/>
                <a:cs typeface="Calibri" pitchFamily="34" charset="-120"/>
              </a:rPr>
              <a:t>8</a:t>
            </a:r>
            <a:endParaRPr lang="en-US" sz="4000" dirty="0"/>
          </a:p>
        </p:txBody>
      </p:sp>
      <p:sp>
        <p:nvSpPr>
          <p:cNvPr id="20" name="Text 17"/>
          <p:cNvSpPr/>
          <p:nvPr/>
        </p:nvSpPr>
        <p:spPr>
          <a:xfrm>
            <a:off x="3918204" y="3977640"/>
            <a:ext cx="1479042" cy="457200"/>
          </a:xfrm>
          <a:prstGeom prst="rect">
            <a:avLst/>
          </a:prstGeom>
          <a:noFill/>
          <a:ln/>
        </p:spPr>
        <p:txBody>
          <a:bodyPr wrap="square" rtlCol="0" anchor="ctr"/>
          <a:lstStyle/>
          <a:p>
            <a:pPr indent="0" marL="0">
              <a:buNone/>
            </a:pPr>
            <a:r>
              <a:rPr lang="en-US" sz="800" spc="300" kern="0" dirty="0">
                <a:solidFill>
                  <a:srgbClr val="D1D5DB"/>
                </a:solidFill>
                <a:latin typeface="Calibri" pitchFamily="34" charset="0"/>
                <a:ea typeface="Calibri" pitchFamily="34" charset="-122"/>
                <a:cs typeface="Calibri" pitchFamily="34" charset="-120"/>
              </a:rPr>
              <a:t>INTERNATIONAL</a:t>
            </a:r>
            <a:endParaRPr lang="en-US" sz="800" dirty="0"/>
          </a:p>
          <a:p>
            <a:pPr indent="0" marL="0">
              <a:buNone/>
            </a:pPr>
            <a:r>
              <a:rPr lang="en-US" sz="800" spc="300" kern="0" dirty="0">
                <a:solidFill>
                  <a:srgbClr val="D1D5DB"/>
                </a:solidFill>
                <a:latin typeface="Calibri" pitchFamily="34" charset="0"/>
                <a:ea typeface="Calibri" pitchFamily="34" charset="-122"/>
                <a:cs typeface="Calibri" pitchFamily="34" charset="-120"/>
              </a:rPr>
              <a:t>AWARDS</a:t>
            </a:r>
            <a:endParaRPr lang="en-US" sz="800" dirty="0"/>
          </a:p>
        </p:txBody>
      </p:sp>
      <p:sp>
        <p:nvSpPr>
          <p:cNvPr id="21" name="Shape 18"/>
          <p:cNvSpPr/>
          <p:nvPr/>
        </p:nvSpPr>
        <p:spPr>
          <a:xfrm>
            <a:off x="5442966" y="3474720"/>
            <a:ext cx="9144" cy="822960"/>
          </a:xfrm>
          <a:prstGeom prst="rect">
            <a:avLst/>
          </a:prstGeom>
          <a:solidFill>
            <a:srgbClr val="2A2A2A"/>
          </a:solidFill>
          <a:ln w="12700">
            <a:solidFill>
              <a:srgbClr val="333333"/>
            </a:solidFill>
            <a:prstDash val="solid"/>
          </a:ln>
        </p:spPr>
      </p:sp>
      <p:sp>
        <p:nvSpPr>
          <p:cNvPr id="22" name="Text 19"/>
          <p:cNvSpPr/>
          <p:nvPr/>
        </p:nvSpPr>
        <p:spPr>
          <a:xfrm>
            <a:off x="5580126" y="3291840"/>
            <a:ext cx="1479042" cy="640080"/>
          </a:xfrm>
          <a:prstGeom prst="rect">
            <a:avLst/>
          </a:prstGeom>
          <a:noFill/>
          <a:ln/>
        </p:spPr>
        <p:txBody>
          <a:bodyPr wrap="square" rtlCol="0" anchor="ctr"/>
          <a:lstStyle/>
          <a:p>
            <a:pPr indent="0" marL="0">
              <a:buNone/>
            </a:pPr>
            <a:r>
              <a:rPr lang="en-US" sz="4000" b="1" dirty="0">
                <a:solidFill>
                  <a:srgbClr val="3EDC81"/>
                </a:solidFill>
                <a:latin typeface="Calibri" pitchFamily="34" charset="0"/>
                <a:ea typeface="Calibri" pitchFamily="34" charset="-122"/>
                <a:cs typeface="Calibri" pitchFamily="34" charset="-120"/>
              </a:rPr>
              <a:t>5</a:t>
            </a:r>
            <a:endParaRPr lang="en-US" sz="4000" dirty="0"/>
          </a:p>
        </p:txBody>
      </p:sp>
      <p:sp>
        <p:nvSpPr>
          <p:cNvPr id="23" name="Text 20"/>
          <p:cNvSpPr/>
          <p:nvPr/>
        </p:nvSpPr>
        <p:spPr>
          <a:xfrm>
            <a:off x="5580126" y="3977640"/>
            <a:ext cx="1479042" cy="457200"/>
          </a:xfrm>
          <a:prstGeom prst="rect">
            <a:avLst/>
          </a:prstGeom>
          <a:noFill/>
          <a:ln/>
        </p:spPr>
        <p:txBody>
          <a:bodyPr wrap="square" rtlCol="0" anchor="ctr"/>
          <a:lstStyle/>
          <a:p>
            <a:pPr indent="0" marL="0">
              <a:buNone/>
            </a:pPr>
            <a:r>
              <a:rPr lang="en-US" sz="800" spc="300" kern="0" dirty="0">
                <a:solidFill>
                  <a:srgbClr val="D1D5DB"/>
                </a:solidFill>
                <a:latin typeface="Calibri" pitchFamily="34" charset="0"/>
                <a:ea typeface="Calibri" pitchFamily="34" charset="-122"/>
                <a:cs typeface="Calibri" pitchFamily="34" charset="-120"/>
              </a:rPr>
              <a:t>CORE SERVICE</a:t>
            </a:r>
            <a:endParaRPr lang="en-US" sz="800" dirty="0"/>
          </a:p>
          <a:p>
            <a:pPr indent="0" marL="0">
              <a:buNone/>
            </a:pPr>
            <a:r>
              <a:rPr lang="en-US" sz="800" spc="300" kern="0" dirty="0">
                <a:solidFill>
                  <a:srgbClr val="D1D5DB"/>
                </a:solidFill>
                <a:latin typeface="Calibri" pitchFamily="34" charset="0"/>
                <a:ea typeface="Calibri" pitchFamily="34" charset="-122"/>
                <a:cs typeface="Calibri" pitchFamily="34" charset="-120"/>
              </a:rPr>
              <a:t>PRACTICES</a:t>
            </a:r>
            <a:endParaRPr lang="en-US" sz="800" dirty="0"/>
          </a:p>
        </p:txBody>
      </p:sp>
      <p:sp>
        <p:nvSpPr>
          <p:cNvPr id="24" name="Text 21"/>
          <p:cNvSpPr/>
          <p:nvPr/>
        </p:nvSpPr>
        <p:spPr>
          <a:xfrm>
            <a:off x="457200" y="4754880"/>
            <a:ext cx="2743200" cy="274320"/>
          </a:xfrm>
          <a:prstGeom prst="rect">
            <a:avLst/>
          </a:prstGeom>
          <a:noFill/>
          <a:ln/>
        </p:spPr>
        <p:txBody>
          <a:bodyPr wrap="square" rtlCol="0" anchor="ctr"/>
          <a:lstStyle/>
          <a:p>
            <a:pPr indent="0" marL="0">
              <a:buNone/>
            </a:pPr>
            <a:r>
              <a:rPr lang="en-US" sz="1000" b="1" spc="500" kern="0" dirty="0">
                <a:solidFill>
                  <a:srgbClr val="3EDC81"/>
                </a:solidFill>
                <a:latin typeface="Calibri" pitchFamily="34" charset="0"/>
                <a:ea typeface="Calibri" pitchFamily="34" charset="-122"/>
                <a:cs typeface="Calibri" pitchFamily="34" charset="-120"/>
              </a:rPr>
              <a:t>ABOUT</a:t>
            </a:r>
            <a:endParaRPr lang="en-US" sz="1000" dirty="0"/>
          </a:p>
        </p:txBody>
      </p:sp>
      <p:sp>
        <p:nvSpPr>
          <p:cNvPr id="25" name="Text 22"/>
          <p:cNvSpPr/>
          <p:nvPr/>
        </p:nvSpPr>
        <p:spPr>
          <a:xfrm>
            <a:off x="457200" y="5120640"/>
            <a:ext cx="6647688" cy="1188720"/>
          </a:xfrm>
          <a:prstGeom prst="rect">
            <a:avLst/>
          </a:prstGeom>
          <a:noFill/>
          <a:ln/>
        </p:spPr>
        <p:txBody>
          <a:bodyPr wrap="square" rtlCol="0" anchor="ctr"/>
          <a:lstStyle/>
          <a:p>
            <a:pPr indent="0" marL="0">
              <a:spcAft>
                <a:spcPts val="400"/>
              </a:spcAft>
              <a:buNone/>
            </a:pPr>
            <a:r>
              <a:rPr lang="en-US" sz="1100" dirty="0">
                <a:solidFill>
                  <a:srgbClr val="FFFFFF"/>
                </a:solidFill>
                <a:latin typeface="Calibri" pitchFamily="34" charset="0"/>
                <a:ea typeface="Calibri" pitchFamily="34" charset="-122"/>
                <a:cs typeface="Calibri" pitchFamily="34" charset="-120"/>
              </a:rPr>
              <a:t>Rawinnipa is a Bangkok-based software and consulting team with over twelve years of experience delivering production systems across fintech, Web3, enterprise AI, education, and manufacturing. We partner with clients to design, build, and operate software that holds up long after launch day — and we've collected a few international awards along the way for the work we do on blockchain and decentralized infrastructure.</a:t>
            </a:r>
            <a:endParaRPr lang="en-US" sz="1100" dirty="0"/>
          </a:p>
        </p:txBody>
      </p:sp>
      <p:sp>
        <p:nvSpPr>
          <p:cNvPr id="26" name="Text 23"/>
          <p:cNvSpPr/>
          <p:nvPr/>
        </p:nvSpPr>
        <p:spPr>
          <a:xfrm>
            <a:off x="457200" y="6355080"/>
            <a:ext cx="2743200" cy="274320"/>
          </a:xfrm>
          <a:prstGeom prst="rect">
            <a:avLst/>
          </a:prstGeom>
          <a:noFill/>
          <a:ln/>
        </p:spPr>
        <p:txBody>
          <a:bodyPr wrap="square" rtlCol="0" anchor="ctr"/>
          <a:lstStyle/>
          <a:p>
            <a:pPr indent="0" marL="0">
              <a:buNone/>
            </a:pPr>
            <a:r>
              <a:rPr lang="en-US" sz="1000" b="1" spc="500" kern="0" dirty="0">
                <a:solidFill>
                  <a:srgbClr val="3EDC81"/>
                </a:solidFill>
                <a:latin typeface="Calibri" pitchFamily="34" charset="0"/>
                <a:ea typeface="Calibri" pitchFamily="34" charset="-122"/>
                <a:cs typeface="Calibri" pitchFamily="34" charset="-120"/>
              </a:rPr>
              <a:t>WHAT WE DO</a:t>
            </a:r>
            <a:endParaRPr lang="en-US" sz="1000" dirty="0"/>
          </a:p>
        </p:txBody>
      </p:sp>
      <p:sp>
        <p:nvSpPr>
          <p:cNvPr id="27" name="Shape 24"/>
          <p:cNvSpPr/>
          <p:nvPr/>
        </p:nvSpPr>
        <p:spPr>
          <a:xfrm>
            <a:off x="457200" y="6675120"/>
            <a:ext cx="3209544" cy="758952"/>
          </a:xfrm>
          <a:prstGeom prst="rect">
            <a:avLst/>
          </a:prstGeom>
          <a:solidFill>
            <a:srgbClr val="1A1A1A"/>
          </a:solidFill>
          <a:ln w="6350">
            <a:solidFill>
              <a:srgbClr val="2A2A2A"/>
            </a:solidFill>
            <a:prstDash val="solid"/>
          </a:ln>
        </p:spPr>
      </p:sp>
      <p:sp>
        <p:nvSpPr>
          <p:cNvPr id="28" name="Shape 25"/>
          <p:cNvSpPr/>
          <p:nvPr/>
        </p:nvSpPr>
        <p:spPr>
          <a:xfrm>
            <a:off x="457200" y="6675120"/>
            <a:ext cx="36576" cy="758952"/>
          </a:xfrm>
          <a:prstGeom prst="rect">
            <a:avLst/>
          </a:prstGeom>
          <a:solidFill>
            <a:srgbClr val="3EDC81"/>
          </a:solidFill>
          <a:ln w="12700">
            <a:solidFill>
              <a:srgbClr val="333333"/>
            </a:solidFill>
            <a:prstDash val="solid"/>
          </a:ln>
        </p:spPr>
      </p:sp>
      <p:sp>
        <p:nvSpPr>
          <p:cNvPr id="29" name="Text 26"/>
          <p:cNvSpPr/>
          <p:nvPr/>
        </p:nvSpPr>
        <p:spPr>
          <a:xfrm>
            <a:off x="640080" y="6766560"/>
            <a:ext cx="365760" cy="274320"/>
          </a:xfrm>
          <a:prstGeom prst="rect">
            <a:avLst/>
          </a:prstGeom>
          <a:noFill/>
          <a:ln/>
        </p:spPr>
        <p:txBody>
          <a:bodyPr wrap="square" rtlCol="0" anchor="ctr"/>
          <a:lstStyle/>
          <a:p>
            <a:pPr indent="0" marL="0">
              <a:buNone/>
            </a:pPr>
            <a:r>
              <a:rPr lang="en-US" sz="1300" b="1" dirty="0">
                <a:solidFill>
                  <a:srgbClr val="3EDC81"/>
                </a:solidFill>
                <a:latin typeface="Calibri" pitchFamily="34" charset="0"/>
                <a:ea typeface="Calibri" pitchFamily="34" charset="-122"/>
                <a:cs typeface="Calibri" pitchFamily="34" charset="-120"/>
              </a:rPr>
              <a:t>01</a:t>
            </a:r>
            <a:endParaRPr lang="en-US" sz="1300" dirty="0"/>
          </a:p>
        </p:txBody>
      </p:sp>
      <p:sp>
        <p:nvSpPr>
          <p:cNvPr id="30" name="Text 27"/>
          <p:cNvSpPr/>
          <p:nvPr/>
        </p:nvSpPr>
        <p:spPr>
          <a:xfrm>
            <a:off x="1005840" y="6766560"/>
            <a:ext cx="2478024"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Blockchain &amp; Web3</a:t>
            </a:r>
            <a:endParaRPr lang="en-US" sz="1200" dirty="0"/>
          </a:p>
        </p:txBody>
      </p:sp>
      <p:sp>
        <p:nvSpPr>
          <p:cNvPr id="31" name="Text 28"/>
          <p:cNvSpPr/>
          <p:nvPr/>
        </p:nvSpPr>
        <p:spPr>
          <a:xfrm>
            <a:off x="640080" y="7059168"/>
            <a:ext cx="2935224" cy="347472"/>
          </a:xfrm>
          <a:prstGeom prst="rect">
            <a:avLst/>
          </a:prstGeom>
          <a:noFill/>
          <a:ln/>
        </p:spPr>
        <p:txBody>
          <a:bodyPr wrap="square" rtlCol="0" anchor="ctr"/>
          <a:lstStyle/>
          <a:p>
            <a:pPr indent="0" marL="0">
              <a:buNone/>
            </a:pPr>
            <a:r>
              <a:rPr lang="en-US" sz="900" dirty="0">
                <a:solidFill>
                  <a:srgbClr val="D1D5DB"/>
                </a:solidFill>
                <a:latin typeface="Calibri" pitchFamily="34" charset="0"/>
                <a:ea typeface="Calibri" pitchFamily="34" charset="-122"/>
                <a:cs typeface="Calibri" pitchFamily="34" charset="-120"/>
              </a:rPr>
              <a:t>Layer 1/2 chains, smart contracts, DEX, oracles, bridges, NFT marketplaces.</a:t>
            </a:r>
            <a:endParaRPr lang="en-US" sz="900" dirty="0"/>
          </a:p>
        </p:txBody>
      </p:sp>
      <p:sp>
        <p:nvSpPr>
          <p:cNvPr id="32" name="Shape 29"/>
          <p:cNvSpPr/>
          <p:nvPr/>
        </p:nvSpPr>
        <p:spPr>
          <a:xfrm>
            <a:off x="3895344" y="6675120"/>
            <a:ext cx="3209544" cy="758952"/>
          </a:xfrm>
          <a:prstGeom prst="rect">
            <a:avLst/>
          </a:prstGeom>
          <a:solidFill>
            <a:srgbClr val="1A1A1A"/>
          </a:solidFill>
          <a:ln w="6350">
            <a:solidFill>
              <a:srgbClr val="2A2A2A"/>
            </a:solidFill>
            <a:prstDash val="solid"/>
          </a:ln>
        </p:spPr>
      </p:sp>
      <p:sp>
        <p:nvSpPr>
          <p:cNvPr id="33" name="Shape 30"/>
          <p:cNvSpPr/>
          <p:nvPr/>
        </p:nvSpPr>
        <p:spPr>
          <a:xfrm>
            <a:off x="3895344" y="6675120"/>
            <a:ext cx="36576" cy="758952"/>
          </a:xfrm>
          <a:prstGeom prst="rect">
            <a:avLst/>
          </a:prstGeom>
          <a:solidFill>
            <a:srgbClr val="3EDC81"/>
          </a:solidFill>
          <a:ln w="12700">
            <a:solidFill>
              <a:srgbClr val="333333"/>
            </a:solidFill>
            <a:prstDash val="solid"/>
          </a:ln>
        </p:spPr>
      </p:sp>
      <p:sp>
        <p:nvSpPr>
          <p:cNvPr id="34" name="Text 31"/>
          <p:cNvSpPr/>
          <p:nvPr/>
        </p:nvSpPr>
        <p:spPr>
          <a:xfrm>
            <a:off x="4078224" y="6766560"/>
            <a:ext cx="365760" cy="274320"/>
          </a:xfrm>
          <a:prstGeom prst="rect">
            <a:avLst/>
          </a:prstGeom>
          <a:noFill/>
          <a:ln/>
        </p:spPr>
        <p:txBody>
          <a:bodyPr wrap="square" rtlCol="0" anchor="ctr"/>
          <a:lstStyle/>
          <a:p>
            <a:pPr indent="0" marL="0">
              <a:buNone/>
            </a:pPr>
            <a:r>
              <a:rPr lang="en-US" sz="1300" b="1" dirty="0">
                <a:solidFill>
                  <a:srgbClr val="3EDC81"/>
                </a:solidFill>
                <a:latin typeface="Calibri" pitchFamily="34" charset="0"/>
                <a:ea typeface="Calibri" pitchFamily="34" charset="-122"/>
                <a:cs typeface="Calibri" pitchFamily="34" charset="-120"/>
              </a:rPr>
              <a:t>02</a:t>
            </a:r>
            <a:endParaRPr lang="en-US" sz="1300" dirty="0"/>
          </a:p>
        </p:txBody>
      </p:sp>
      <p:sp>
        <p:nvSpPr>
          <p:cNvPr id="35" name="Text 32"/>
          <p:cNvSpPr/>
          <p:nvPr/>
        </p:nvSpPr>
        <p:spPr>
          <a:xfrm>
            <a:off x="4443984" y="6766560"/>
            <a:ext cx="2478024"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AI &amp; Automation</a:t>
            </a:r>
            <a:endParaRPr lang="en-US" sz="1200" dirty="0"/>
          </a:p>
        </p:txBody>
      </p:sp>
      <p:sp>
        <p:nvSpPr>
          <p:cNvPr id="36" name="Text 33"/>
          <p:cNvSpPr/>
          <p:nvPr/>
        </p:nvSpPr>
        <p:spPr>
          <a:xfrm>
            <a:off x="4078224" y="7059168"/>
            <a:ext cx="2935224" cy="347472"/>
          </a:xfrm>
          <a:prstGeom prst="rect">
            <a:avLst/>
          </a:prstGeom>
          <a:noFill/>
          <a:ln/>
        </p:spPr>
        <p:txBody>
          <a:bodyPr wrap="square" rtlCol="0" anchor="ctr"/>
          <a:lstStyle/>
          <a:p>
            <a:pPr indent="0" marL="0">
              <a:buNone/>
            </a:pPr>
            <a:r>
              <a:rPr lang="en-US" sz="900" dirty="0">
                <a:solidFill>
                  <a:srgbClr val="D1D5DB"/>
                </a:solidFill>
                <a:latin typeface="Calibri" pitchFamily="34" charset="0"/>
                <a:ea typeface="Calibri" pitchFamily="34" charset="-122"/>
                <a:cs typeface="Calibri" pitchFamily="34" charset="-120"/>
              </a:rPr>
              <a:t>AI agents, LLM workflows, Computer Vision, n8n automation, enterprise AI integration.</a:t>
            </a:r>
            <a:endParaRPr lang="en-US" sz="900" dirty="0"/>
          </a:p>
        </p:txBody>
      </p:sp>
      <p:sp>
        <p:nvSpPr>
          <p:cNvPr id="37" name="Shape 34"/>
          <p:cNvSpPr/>
          <p:nvPr/>
        </p:nvSpPr>
        <p:spPr>
          <a:xfrm>
            <a:off x="457200" y="7543800"/>
            <a:ext cx="3209544" cy="758952"/>
          </a:xfrm>
          <a:prstGeom prst="rect">
            <a:avLst/>
          </a:prstGeom>
          <a:solidFill>
            <a:srgbClr val="1A1A1A"/>
          </a:solidFill>
          <a:ln w="6350">
            <a:solidFill>
              <a:srgbClr val="2A2A2A"/>
            </a:solidFill>
            <a:prstDash val="solid"/>
          </a:ln>
        </p:spPr>
      </p:sp>
      <p:sp>
        <p:nvSpPr>
          <p:cNvPr id="38" name="Shape 35"/>
          <p:cNvSpPr/>
          <p:nvPr/>
        </p:nvSpPr>
        <p:spPr>
          <a:xfrm>
            <a:off x="457200" y="7543800"/>
            <a:ext cx="36576" cy="758952"/>
          </a:xfrm>
          <a:prstGeom prst="rect">
            <a:avLst/>
          </a:prstGeom>
          <a:solidFill>
            <a:srgbClr val="3EDC81"/>
          </a:solidFill>
          <a:ln w="12700">
            <a:solidFill>
              <a:srgbClr val="333333"/>
            </a:solidFill>
            <a:prstDash val="solid"/>
          </a:ln>
        </p:spPr>
      </p:sp>
      <p:sp>
        <p:nvSpPr>
          <p:cNvPr id="39" name="Text 36"/>
          <p:cNvSpPr/>
          <p:nvPr/>
        </p:nvSpPr>
        <p:spPr>
          <a:xfrm>
            <a:off x="640080" y="7635240"/>
            <a:ext cx="365760" cy="274320"/>
          </a:xfrm>
          <a:prstGeom prst="rect">
            <a:avLst/>
          </a:prstGeom>
          <a:noFill/>
          <a:ln/>
        </p:spPr>
        <p:txBody>
          <a:bodyPr wrap="square" rtlCol="0" anchor="ctr"/>
          <a:lstStyle/>
          <a:p>
            <a:pPr indent="0" marL="0">
              <a:buNone/>
            </a:pPr>
            <a:r>
              <a:rPr lang="en-US" sz="1300" b="1" dirty="0">
                <a:solidFill>
                  <a:srgbClr val="3EDC81"/>
                </a:solidFill>
                <a:latin typeface="Calibri" pitchFamily="34" charset="0"/>
                <a:ea typeface="Calibri" pitchFamily="34" charset="-122"/>
                <a:cs typeface="Calibri" pitchFamily="34" charset="-120"/>
              </a:rPr>
              <a:t>03</a:t>
            </a:r>
            <a:endParaRPr lang="en-US" sz="1300" dirty="0"/>
          </a:p>
        </p:txBody>
      </p:sp>
      <p:sp>
        <p:nvSpPr>
          <p:cNvPr id="40" name="Text 37"/>
          <p:cNvSpPr/>
          <p:nvPr/>
        </p:nvSpPr>
        <p:spPr>
          <a:xfrm>
            <a:off x="1005840" y="7635240"/>
            <a:ext cx="2478024"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Application Development</a:t>
            </a:r>
            <a:endParaRPr lang="en-US" sz="1200" dirty="0"/>
          </a:p>
        </p:txBody>
      </p:sp>
      <p:sp>
        <p:nvSpPr>
          <p:cNvPr id="41" name="Text 38"/>
          <p:cNvSpPr/>
          <p:nvPr/>
        </p:nvSpPr>
        <p:spPr>
          <a:xfrm>
            <a:off x="640080" y="7927848"/>
            <a:ext cx="2935224" cy="347472"/>
          </a:xfrm>
          <a:prstGeom prst="rect">
            <a:avLst/>
          </a:prstGeom>
          <a:noFill/>
          <a:ln/>
        </p:spPr>
        <p:txBody>
          <a:bodyPr wrap="square" rtlCol="0" anchor="ctr"/>
          <a:lstStyle/>
          <a:p>
            <a:pPr indent="0" marL="0">
              <a:buNone/>
            </a:pPr>
            <a:r>
              <a:rPr lang="en-US" sz="900" dirty="0">
                <a:solidFill>
                  <a:srgbClr val="D1D5DB"/>
                </a:solidFill>
                <a:latin typeface="Calibri" pitchFamily="34" charset="0"/>
                <a:ea typeface="Calibri" pitchFamily="34" charset="-122"/>
                <a:cs typeface="Calibri" pitchFamily="34" charset="-120"/>
              </a:rPr>
              <a:t>Web, mobile, LINE LIFF/Beacon, Telegram Mini Apps.</a:t>
            </a:r>
            <a:endParaRPr lang="en-US" sz="900" dirty="0"/>
          </a:p>
        </p:txBody>
      </p:sp>
      <p:sp>
        <p:nvSpPr>
          <p:cNvPr id="42" name="Shape 39"/>
          <p:cNvSpPr/>
          <p:nvPr/>
        </p:nvSpPr>
        <p:spPr>
          <a:xfrm>
            <a:off x="3895344" y="7543800"/>
            <a:ext cx="3209544" cy="758952"/>
          </a:xfrm>
          <a:prstGeom prst="rect">
            <a:avLst/>
          </a:prstGeom>
          <a:solidFill>
            <a:srgbClr val="1A1A1A"/>
          </a:solidFill>
          <a:ln w="6350">
            <a:solidFill>
              <a:srgbClr val="2A2A2A"/>
            </a:solidFill>
            <a:prstDash val="solid"/>
          </a:ln>
        </p:spPr>
      </p:sp>
      <p:sp>
        <p:nvSpPr>
          <p:cNvPr id="43" name="Shape 40"/>
          <p:cNvSpPr/>
          <p:nvPr/>
        </p:nvSpPr>
        <p:spPr>
          <a:xfrm>
            <a:off x="3895344" y="7543800"/>
            <a:ext cx="36576" cy="758952"/>
          </a:xfrm>
          <a:prstGeom prst="rect">
            <a:avLst/>
          </a:prstGeom>
          <a:solidFill>
            <a:srgbClr val="3EDC81"/>
          </a:solidFill>
          <a:ln w="12700">
            <a:solidFill>
              <a:srgbClr val="333333"/>
            </a:solidFill>
            <a:prstDash val="solid"/>
          </a:ln>
        </p:spPr>
      </p:sp>
      <p:sp>
        <p:nvSpPr>
          <p:cNvPr id="44" name="Text 41"/>
          <p:cNvSpPr/>
          <p:nvPr/>
        </p:nvSpPr>
        <p:spPr>
          <a:xfrm>
            <a:off x="4078224" y="7635240"/>
            <a:ext cx="365760" cy="274320"/>
          </a:xfrm>
          <a:prstGeom prst="rect">
            <a:avLst/>
          </a:prstGeom>
          <a:noFill/>
          <a:ln/>
        </p:spPr>
        <p:txBody>
          <a:bodyPr wrap="square" rtlCol="0" anchor="ctr"/>
          <a:lstStyle/>
          <a:p>
            <a:pPr indent="0" marL="0">
              <a:buNone/>
            </a:pPr>
            <a:r>
              <a:rPr lang="en-US" sz="1300" b="1" dirty="0">
                <a:solidFill>
                  <a:srgbClr val="3EDC81"/>
                </a:solidFill>
                <a:latin typeface="Calibri" pitchFamily="34" charset="0"/>
                <a:ea typeface="Calibri" pitchFamily="34" charset="-122"/>
                <a:cs typeface="Calibri" pitchFamily="34" charset="-120"/>
              </a:rPr>
              <a:t>04</a:t>
            </a:r>
            <a:endParaRPr lang="en-US" sz="1300" dirty="0"/>
          </a:p>
        </p:txBody>
      </p:sp>
      <p:sp>
        <p:nvSpPr>
          <p:cNvPr id="45" name="Text 42"/>
          <p:cNvSpPr/>
          <p:nvPr/>
        </p:nvSpPr>
        <p:spPr>
          <a:xfrm>
            <a:off x="4443984" y="7635240"/>
            <a:ext cx="2478024"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UX/UI &amp; Systems Analysis</a:t>
            </a:r>
            <a:endParaRPr lang="en-US" sz="1200" dirty="0"/>
          </a:p>
        </p:txBody>
      </p:sp>
      <p:sp>
        <p:nvSpPr>
          <p:cNvPr id="46" name="Text 43"/>
          <p:cNvSpPr/>
          <p:nvPr/>
        </p:nvSpPr>
        <p:spPr>
          <a:xfrm>
            <a:off x="4078224" y="7927848"/>
            <a:ext cx="2935224" cy="347472"/>
          </a:xfrm>
          <a:prstGeom prst="rect">
            <a:avLst/>
          </a:prstGeom>
          <a:noFill/>
          <a:ln/>
        </p:spPr>
        <p:txBody>
          <a:bodyPr wrap="square" rtlCol="0" anchor="ctr"/>
          <a:lstStyle/>
          <a:p>
            <a:pPr indent="0" marL="0">
              <a:buNone/>
            </a:pPr>
            <a:r>
              <a:rPr lang="en-US" sz="900" dirty="0">
                <a:solidFill>
                  <a:srgbClr val="D1D5DB"/>
                </a:solidFill>
                <a:latin typeface="Calibri" pitchFamily="34" charset="0"/>
                <a:ea typeface="Calibri" pitchFamily="34" charset="-122"/>
                <a:cs typeface="Calibri" pitchFamily="34" charset="-120"/>
              </a:rPr>
              <a:t>User-centered design, system architecture, requirements engineering.</a:t>
            </a:r>
            <a:endParaRPr lang="en-US" sz="900" dirty="0"/>
          </a:p>
        </p:txBody>
      </p:sp>
      <p:sp>
        <p:nvSpPr>
          <p:cNvPr id="47" name="Shape 44"/>
          <p:cNvSpPr/>
          <p:nvPr/>
        </p:nvSpPr>
        <p:spPr>
          <a:xfrm>
            <a:off x="457200" y="8412480"/>
            <a:ext cx="3209544" cy="758952"/>
          </a:xfrm>
          <a:prstGeom prst="rect">
            <a:avLst/>
          </a:prstGeom>
          <a:solidFill>
            <a:srgbClr val="1A1A1A"/>
          </a:solidFill>
          <a:ln w="6350">
            <a:solidFill>
              <a:srgbClr val="2A2A2A"/>
            </a:solidFill>
            <a:prstDash val="solid"/>
          </a:ln>
        </p:spPr>
      </p:sp>
      <p:sp>
        <p:nvSpPr>
          <p:cNvPr id="48" name="Shape 45"/>
          <p:cNvSpPr/>
          <p:nvPr/>
        </p:nvSpPr>
        <p:spPr>
          <a:xfrm>
            <a:off x="457200" y="8412480"/>
            <a:ext cx="36576" cy="758952"/>
          </a:xfrm>
          <a:prstGeom prst="rect">
            <a:avLst/>
          </a:prstGeom>
          <a:solidFill>
            <a:srgbClr val="3EDC81"/>
          </a:solidFill>
          <a:ln w="12700">
            <a:solidFill>
              <a:srgbClr val="333333"/>
            </a:solidFill>
            <a:prstDash val="solid"/>
          </a:ln>
        </p:spPr>
      </p:sp>
      <p:sp>
        <p:nvSpPr>
          <p:cNvPr id="49" name="Text 46"/>
          <p:cNvSpPr/>
          <p:nvPr/>
        </p:nvSpPr>
        <p:spPr>
          <a:xfrm>
            <a:off x="640080" y="8503920"/>
            <a:ext cx="365760" cy="274320"/>
          </a:xfrm>
          <a:prstGeom prst="rect">
            <a:avLst/>
          </a:prstGeom>
          <a:noFill/>
          <a:ln/>
        </p:spPr>
        <p:txBody>
          <a:bodyPr wrap="square" rtlCol="0" anchor="ctr"/>
          <a:lstStyle/>
          <a:p>
            <a:pPr indent="0" marL="0">
              <a:buNone/>
            </a:pPr>
            <a:r>
              <a:rPr lang="en-US" sz="1300" b="1" dirty="0">
                <a:solidFill>
                  <a:srgbClr val="3EDC81"/>
                </a:solidFill>
                <a:latin typeface="Calibri" pitchFamily="34" charset="0"/>
                <a:ea typeface="Calibri" pitchFamily="34" charset="-122"/>
                <a:cs typeface="Calibri" pitchFamily="34" charset="-120"/>
              </a:rPr>
              <a:t>05</a:t>
            </a:r>
            <a:endParaRPr lang="en-US" sz="1300" dirty="0"/>
          </a:p>
        </p:txBody>
      </p:sp>
      <p:sp>
        <p:nvSpPr>
          <p:cNvPr id="50" name="Text 47"/>
          <p:cNvSpPr/>
          <p:nvPr/>
        </p:nvSpPr>
        <p:spPr>
          <a:xfrm>
            <a:off x="1005840" y="8503920"/>
            <a:ext cx="2478024"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Consulting &amp; Training</a:t>
            </a:r>
            <a:endParaRPr lang="en-US" sz="1200" dirty="0"/>
          </a:p>
        </p:txBody>
      </p:sp>
      <p:sp>
        <p:nvSpPr>
          <p:cNvPr id="51" name="Text 48"/>
          <p:cNvSpPr/>
          <p:nvPr/>
        </p:nvSpPr>
        <p:spPr>
          <a:xfrm>
            <a:off x="640080" y="8796528"/>
            <a:ext cx="2935224" cy="347472"/>
          </a:xfrm>
          <a:prstGeom prst="rect">
            <a:avLst/>
          </a:prstGeom>
          <a:noFill/>
          <a:ln/>
        </p:spPr>
        <p:txBody>
          <a:bodyPr wrap="square" rtlCol="0" anchor="ctr"/>
          <a:lstStyle/>
          <a:p>
            <a:pPr indent="0" marL="0">
              <a:buNone/>
            </a:pPr>
            <a:r>
              <a:rPr lang="en-US" sz="900" dirty="0">
                <a:solidFill>
                  <a:srgbClr val="D1D5DB"/>
                </a:solidFill>
                <a:latin typeface="Calibri" pitchFamily="34" charset="0"/>
                <a:ea typeface="Calibri" pitchFamily="34" charset="-122"/>
                <a:cs typeface="Calibri" pitchFamily="34" charset="-120"/>
              </a:rPr>
              <a:t>Architecture planning, AI transformation workshops, technical enablement.</a:t>
            </a:r>
            <a:endParaRPr lang="en-US" sz="900" dirty="0"/>
          </a:p>
        </p:txBody>
      </p:sp>
      <p:sp>
        <p:nvSpPr>
          <p:cNvPr id="52" name="Shape 49"/>
          <p:cNvSpPr/>
          <p:nvPr/>
        </p:nvSpPr>
        <p:spPr>
          <a:xfrm>
            <a:off x="457200" y="9454896"/>
            <a:ext cx="6647688" cy="457200"/>
          </a:xfrm>
          <a:prstGeom prst="rect">
            <a:avLst/>
          </a:prstGeom>
          <a:solidFill>
            <a:srgbClr val="1A1A1A"/>
          </a:solidFill>
          <a:ln w="6350">
            <a:solidFill>
              <a:srgbClr val="2A2A2A"/>
            </a:solidFill>
            <a:prstDash val="solid"/>
          </a:ln>
        </p:spPr>
      </p:sp>
      <p:sp>
        <p:nvSpPr>
          <p:cNvPr id="53" name="Text 50"/>
          <p:cNvSpPr/>
          <p:nvPr/>
        </p:nvSpPr>
        <p:spPr>
          <a:xfrm>
            <a:off x="457200" y="9454896"/>
            <a:ext cx="6647688"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sayhi@rawinsoft.com</a:t>
            </a:r>
            <a:pPr algn="ctr" indent="0" marL="0">
              <a:buNone/>
            </a:pPr>
            <a:r>
              <a:rPr lang="en-US" sz="1100" dirty="0">
                <a:solidFill>
                  <a:srgbClr val="3EDC81"/>
                </a:solidFill>
                <a:latin typeface="Calibri" pitchFamily="34" charset="0"/>
                <a:ea typeface="Calibri" pitchFamily="34" charset="-122"/>
                <a:cs typeface="Calibri" pitchFamily="34" charset="-120"/>
              </a:rPr>
              <a:t>   ·   </a:t>
            </a:r>
            <a:pPr algn="ctr" indent="0" marL="0">
              <a:buNone/>
            </a:pPr>
            <a:r>
              <a:rPr lang="en-US" sz="1100" b="1" dirty="0">
                <a:solidFill>
                  <a:srgbClr val="FFFFFF"/>
                </a:solidFill>
                <a:latin typeface="Calibri" pitchFamily="34" charset="0"/>
                <a:ea typeface="Calibri" pitchFamily="34" charset="-122"/>
                <a:cs typeface="Calibri" pitchFamily="34" charset="-120"/>
              </a:rPr>
              <a:t>rawinsoft.com</a:t>
            </a:r>
            <a:pPr algn="ctr" indent="0" marL="0">
              <a:buNone/>
            </a:pPr>
            <a:r>
              <a:rPr lang="en-US" sz="1100" dirty="0">
                <a:solidFill>
                  <a:srgbClr val="3EDC81"/>
                </a:solidFill>
                <a:latin typeface="Calibri" pitchFamily="34" charset="0"/>
                <a:ea typeface="Calibri" pitchFamily="34" charset="-122"/>
                <a:cs typeface="Calibri" pitchFamily="34" charset="-120"/>
              </a:rPr>
              <a:t>   ·   </a:t>
            </a:r>
            <a:pPr algn="ctr" indent="0" marL="0">
              <a:buNone/>
            </a:pPr>
            <a:r>
              <a:rPr lang="en-US" sz="1100" b="1" dirty="0">
                <a:solidFill>
                  <a:srgbClr val="FFFFFF"/>
                </a:solidFill>
                <a:latin typeface="Calibri" pitchFamily="34" charset="0"/>
                <a:ea typeface="Calibri" pitchFamily="34" charset="-122"/>
                <a:cs typeface="Calibri" pitchFamily="34" charset="-120"/>
              </a:rPr>
              <a:t>+66 98 265 9690</a:t>
            </a:r>
            <a:endParaRPr lang="en-US" sz="1100" dirty="0"/>
          </a:p>
        </p:txBody>
      </p:sp>
      <p:sp>
        <p:nvSpPr>
          <p:cNvPr id="54" name="Shape 51"/>
          <p:cNvSpPr/>
          <p:nvPr/>
        </p:nvSpPr>
        <p:spPr>
          <a:xfrm>
            <a:off x="0" y="10049256"/>
            <a:ext cx="7562088" cy="36576"/>
          </a:xfrm>
          <a:prstGeom prst="rect">
            <a:avLst/>
          </a:prstGeom>
          <a:solidFill>
            <a:srgbClr val="3EDC81"/>
          </a:solidFill>
          <a:ln w="12700">
            <a:solidFill>
              <a:srgbClr val="333333"/>
            </a:solidFill>
            <a:prstDash val="solid"/>
          </a:ln>
        </p:spPr>
      </p:sp>
      <p:sp>
        <p:nvSpPr>
          <p:cNvPr id="55" name="Text 52"/>
          <p:cNvSpPr/>
          <p:nvPr/>
        </p:nvSpPr>
        <p:spPr>
          <a:xfrm>
            <a:off x="457200" y="10186416"/>
            <a:ext cx="4572000" cy="274320"/>
          </a:xfrm>
          <a:prstGeom prst="rect">
            <a:avLst/>
          </a:prstGeom>
          <a:noFill/>
          <a:ln/>
        </p:spPr>
        <p:txBody>
          <a:bodyPr wrap="square" rtlCol="0" anchor="ctr"/>
          <a:lstStyle/>
          <a:p>
            <a:pPr indent="0" marL="0">
              <a:buNone/>
            </a:pPr>
            <a:r>
              <a:rPr lang="en-US" sz="800" spc="400" kern="0" dirty="0">
                <a:solidFill>
                  <a:srgbClr val="4A4A4A"/>
                </a:solidFill>
                <a:latin typeface="Calibri" pitchFamily="34" charset="0"/>
                <a:ea typeface="Calibri" pitchFamily="34" charset="-122"/>
                <a:cs typeface="Calibri" pitchFamily="34" charset="-120"/>
              </a:rPr>
              <a:t>RAWINNIPA  /  COMPANY CV  /  V 1.0</a:t>
            </a:r>
            <a:endParaRPr lang="en-US" sz="800" dirty="0"/>
          </a:p>
        </p:txBody>
      </p:sp>
      <p:sp>
        <p:nvSpPr>
          <p:cNvPr id="56" name="Text 53"/>
          <p:cNvSpPr/>
          <p:nvPr/>
        </p:nvSpPr>
        <p:spPr>
          <a:xfrm>
            <a:off x="6190488" y="10186416"/>
            <a:ext cx="914400" cy="274320"/>
          </a:xfrm>
          <a:prstGeom prst="rect">
            <a:avLst/>
          </a:prstGeom>
          <a:noFill/>
          <a:ln/>
        </p:spPr>
        <p:txBody>
          <a:bodyPr wrap="square" rtlCol="0" anchor="ctr"/>
          <a:lstStyle/>
          <a:p>
            <a:pPr algn="r" indent="0" marL="0">
              <a:buNone/>
            </a:pPr>
            <a:r>
              <a:rPr lang="en-US" sz="800" b="1" dirty="0">
                <a:solidFill>
                  <a:srgbClr val="3EDC81"/>
                </a:solidFill>
                <a:latin typeface="Calibri" pitchFamily="34" charset="0"/>
                <a:ea typeface="Calibri" pitchFamily="34" charset="-122"/>
                <a:cs typeface="Calibri" pitchFamily="34" charset="-120"/>
              </a:rPr>
              <a:t>1 / 2</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2520696" cy="182880"/>
          </a:xfrm>
          <a:prstGeom prst="rect">
            <a:avLst/>
          </a:prstGeom>
          <a:solidFill>
            <a:srgbClr val="23B591"/>
          </a:solidFill>
          <a:ln w="12700">
            <a:solidFill>
              <a:srgbClr val="333333"/>
            </a:solidFill>
            <a:prstDash val="solid"/>
          </a:ln>
        </p:spPr>
      </p:sp>
      <p:sp>
        <p:nvSpPr>
          <p:cNvPr id="3" name="Shape 1"/>
          <p:cNvSpPr/>
          <p:nvPr/>
        </p:nvSpPr>
        <p:spPr>
          <a:xfrm>
            <a:off x="2520696" y="0"/>
            <a:ext cx="2520696" cy="182880"/>
          </a:xfrm>
          <a:prstGeom prst="rect">
            <a:avLst/>
          </a:prstGeom>
          <a:solidFill>
            <a:srgbClr val="3EDC81"/>
          </a:solidFill>
          <a:ln w="12700">
            <a:solidFill>
              <a:srgbClr val="333333"/>
            </a:solidFill>
            <a:prstDash val="solid"/>
          </a:ln>
        </p:spPr>
      </p:sp>
      <p:sp>
        <p:nvSpPr>
          <p:cNvPr id="4" name="Shape 2"/>
          <p:cNvSpPr/>
          <p:nvPr/>
        </p:nvSpPr>
        <p:spPr>
          <a:xfrm>
            <a:off x="5041392" y="0"/>
            <a:ext cx="2520696" cy="182880"/>
          </a:xfrm>
          <a:prstGeom prst="rect">
            <a:avLst/>
          </a:prstGeom>
          <a:solidFill>
            <a:srgbClr val="9DC351"/>
          </a:solidFill>
          <a:ln w="12700">
            <a:solidFill>
              <a:srgbClr val="333333"/>
            </a:solidFill>
            <a:prstDash val="solid"/>
          </a:ln>
        </p:spPr>
      </p:sp>
      <p:pic>
        <p:nvPicPr>
          <p:cNvPr id="5" name="Image 0" descr="/home/claude/brand_ci/assets/logo_color.png">    </p:cNvPr>
          <p:cNvPicPr>
            <a:picLocks noChangeAspect="1"/>
          </p:cNvPicPr>
          <p:nvPr/>
        </p:nvPicPr>
        <p:blipFill>
          <a:blip r:embed="rId1"/>
          <a:stretch>
            <a:fillRect/>
          </a:stretch>
        </p:blipFill>
        <p:spPr>
          <a:xfrm>
            <a:off x="457200" y="457200"/>
            <a:ext cx="457200" cy="457200"/>
          </a:xfrm>
          <a:prstGeom prst="rect">
            <a:avLst/>
          </a:prstGeom>
        </p:spPr>
      </p:pic>
      <p:sp>
        <p:nvSpPr>
          <p:cNvPr id="6" name="Text 3"/>
          <p:cNvSpPr/>
          <p:nvPr/>
        </p:nvSpPr>
        <p:spPr>
          <a:xfrm>
            <a:off x="1005840" y="502920"/>
            <a:ext cx="3657600" cy="274320"/>
          </a:xfrm>
          <a:prstGeom prst="rect">
            <a:avLst/>
          </a:prstGeom>
          <a:noFill/>
          <a:ln/>
        </p:spPr>
        <p:txBody>
          <a:bodyPr wrap="square"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RAWINNIPA  /  COMPANY CV</a:t>
            </a:r>
            <a:endParaRPr lang="en-US" sz="1000" dirty="0"/>
          </a:p>
        </p:txBody>
      </p:sp>
      <p:sp>
        <p:nvSpPr>
          <p:cNvPr id="7" name="Text 4"/>
          <p:cNvSpPr/>
          <p:nvPr/>
        </p:nvSpPr>
        <p:spPr>
          <a:xfrm>
            <a:off x="5276088" y="502920"/>
            <a:ext cx="1828800" cy="274320"/>
          </a:xfrm>
          <a:prstGeom prst="rect">
            <a:avLst/>
          </a:prstGeom>
          <a:noFill/>
          <a:ln/>
        </p:spPr>
        <p:txBody>
          <a:bodyPr wrap="square" rtlCol="0" anchor="ctr"/>
          <a:lstStyle/>
          <a:p>
            <a:pPr algn="r" indent="0" marL="0">
              <a:buNone/>
            </a:pPr>
            <a:r>
              <a:rPr lang="en-US" sz="900" b="1" spc="400" kern="0" dirty="0">
                <a:solidFill>
                  <a:srgbClr val="4A4A4A"/>
                </a:solidFill>
                <a:latin typeface="Calibri" pitchFamily="34" charset="0"/>
                <a:ea typeface="Calibri" pitchFamily="34" charset="-122"/>
                <a:cs typeface="Calibri" pitchFamily="34" charset="-120"/>
              </a:rPr>
              <a:t>PAGE 2</a:t>
            </a:r>
            <a:endParaRPr lang="en-US" sz="900" dirty="0"/>
          </a:p>
        </p:txBody>
      </p:sp>
      <p:sp>
        <p:nvSpPr>
          <p:cNvPr id="8" name="Text 5"/>
          <p:cNvSpPr/>
          <p:nvPr/>
        </p:nvSpPr>
        <p:spPr>
          <a:xfrm>
            <a:off x="457200" y="1280160"/>
            <a:ext cx="4572000" cy="274320"/>
          </a:xfrm>
          <a:prstGeom prst="rect">
            <a:avLst/>
          </a:prstGeom>
          <a:noFill/>
          <a:ln/>
        </p:spPr>
        <p:txBody>
          <a:bodyPr wrap="square" rtlCol="0" anchor="ctr"/>
          <a:lstStyle/>
          <a:p>
            <a:pPr indent="0" marL="0">
              <a:buNone/>
            </a:pPr>
            <a:r>
              <a:rPr lang="en-US" sz="1000" b="1" spc="500" kern="0" dirty="0">
                <a:solidFill>
                  <a:srgbClr val="3EDC81"/>
                </a:solidFill>
                <a:latin typeface="Calibri" pitchFamily="34" charset="0"/>
                <a:ea typeface="Calibri" pitchFamily="34" charset="-122"/>
                <a:cs typeface="Calibri" pitchFamily="34" charset="-120"/>
              </a:rPr>
              <a:t>SELECTED WORK</a:t>
            </a:r>
            <a:endParaRPr lang="en-US" sz="1000" dirty="0"/>
          </a:p>
        </p:txBody>
      </p:sp>
      <p:sp>
        <p:nvSpPr>
          <p:cNvPr id="9" name="Text 6"/>
          <p:cNvSpPr/>
          <p:nvPr/>
        </p:nvSpPr>
        <p:spPr>
          <a:xfrm>
            <a:off x="457200" y="1554480"/>
            <a:ext cx="6647688" cy="274320"/>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Eight projects spanning blockchain, AI, enterprise systems, and hardware integration.</a:t>
            </a:r>
            <a:endParaRPr lang="en-US" sz="1000" dirty="0"/>
          </a:p>
        </p:txBody>
      </p:sp>
      <p:sp>
        <p:nvSpPr>
          <p:cNvPr id="10" name="Shape 7"/>
          <p:cNvSpPr/>
          <p:nvPr/>
        </p:nvSpPr>
        <p:spPr>
          <a:xfrm>
            <a:off x="457200" y="1965960"/>
            <a:ext cx="3209544" cy="868680"/>
          </a:xfrm>
          <a:prstGeom prst="rect">
            <a:avLst/>
          </a:prstGeom>
          <a:solidFill>
            <a:srgbClr val="1A1A1A"/>
          </a:solidFill>
          <a:ln w="6350">
            <a:solidFill>
              <a:srgbClr val="2A2A2A"/>
            </a:solidFill>
            <a:prstDash val="solid"/>
          </a:ln>
        </p:spPr>
      </p:sp>
      <p:sp>
        <p:nvSpPr>
          <p:cNvPr id="11" name="Shape 8"/>
          <p:cNvSpPr/>
          <p:nvPr/>
        </p:nvSpPr>
        <p:spPr>
          <a:xfrm>
            <a:off x="2478024" y="2075688"/>
            <a:ext cx="1097280" cy="201168"/>
          </a:xfrm>
          <a:prstGeom prst="rect">
            <a:avLst/>
          </a:prstGeom>
          <a:solidFill>
            <a:srgbClr val="000000"/>
          </a:solidFill>
          <a:ln w="6350">
            <a:solidFill>
              <a:srgbClr val="3EDC81"/>
            </a:solidFill>
            <a:prstDash val="solid"/>
          </a:ln>
        </p:spPr>
      </p:sp>
      <p:sp>
        <p:nvSpPr>
          <p:cNvPr id="12" name="Text 9"/>
          <p:cNvSpPr/>
          <p:nvPr/>
        </p:nvSpPr>
        <p:spPr>
          <a:xfrm>
            <a:off x="2478024" y="2075688"/>
            <a:ext cx="1097280" cy="201168"/>
          </a:xfrm>
          <a:prstGeom prst="rect">
            <a:avLst/>
          </a:prstGeom>
          <a:noFill/>
          <a:ln/>
        </p:spPr>
        <p:txBody>
          <a:bodyPr wrap="square" lIns="0" tIns="0" rIns="0" bIns="0" rtlCol="0" anchor="ctr"/>
          <a:lstStyle/>
          <a:p>
            <a:pPr algn="ctr" indent="0" marL="0">
              <a:buNone/>
            </a:pPr>
            <a:r>
              <a:rPr lang="en-US" sz="700" b="1" spc="200" kern="0" dirty="0">
                <a:solidFill>
                  <a:srgbClr val="3EDC81"/>
                </a:solidFill>
                <a:latin typeface="Calibri" pitchFamily="34" charset="0"/>
                <a:ea typeface="Calibri" pitchFamily="34" charset="-122"/>
                <a:cs typeface="Calibri" pitchFamily="34" charset="-120"/>
              </a:rPr>
              <a:t>BLOCKCHAIN</a:t>
            </a:r>
            <a:endParaRPr lang="en-US" sz="700" dirty="0"/>
          </a:p>
        </p:txBody>
      </p:sp>
      <p:sp>
        <p:nvSpPr>
          <p:cNvPr id="13" name="Text 10"/>
          <p:cNvSpPr/>
          <p:nvPr/>
        </p:nvSpPr>
        <p:spPr>
          <a:xfrm>
            <a:off x="640080" y="2057400"/>
            <a:ext cx="1837944"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MaxiChain</a:t>
            </a:r>
            <a:endParaRPr lang="en-US" sz="1300" dirty="0"/>
          </a:p>
        </p:txBody>
      </p:sp>
      <p:sp>
        <p:nvSpPr>
          <p:cNvPr id="14" name="Text 11"/>
          <p:cNvSpPr/>
          <p:nvPr/>
        </p:nvSpPr>
        <p:spPr>
          <a:xfrm>
            <a:off x="640080" y="2377440"/>
            <a:ext cx="2935224" cy="502920"/>
          </a:xfrm>
          <a:prstGeom prst="rect">
            <a:avLst/>
          </a:prstGeom>
          <a:noFill/>
          <a:ln/>
        </p:spPr>
        <p:txBody>
          <a:bodyPr wrap="square" rtlCol="0" anchor="ctr"/>
          <a:lstStyle/>
          <a:p>
            <a:pPr indent="0" marL="0">
              <a:buNone/>
            </a:pPr>
            <a:r>
              <a:rPr lang="en-US" sz="900" dirty="0">
                <a:solidFill>
                  <a:srgbClr val="D1D5DB"/>
                </a:solidFill>
                <a:latin typeface="Calibri" pitchFamily="34" charset="0"/>
                <a:ea typeface="Calibri" pitchFamily="34" charset="-122"/>
                <a:cs typeface="Calibri" pitchFamily="34" charset="-120"/>
              </a:rPr>
              <a:t>EVM Layer-1 network for Maxion's game platform — block explorer, bridge, DEX, faucet.</a:t>
            </a:r>
            <a:endParaRPr lang="en-US" sz="900" dirty="0"/>
          </a:p>
        </p:txBody>
      </p:sp>
      <p:sp>
        <p:nvSpPr>
          <p:cNvPr id="15" name="Shape 12"/>
          <p:cNvSpPr/>
          <p:nvPr/>
        </p:nvSpPr>
        <p:spPr>
          <a:xfrm>
            <a:off x="3895344" y="1965960"/>
            <a:ext cx="3209544" cy="868680"/>
          </a:xfrm>
          <a:prstGeom prst="rect">
            <a:avLst/>
          </a:prstGeom>
          <a:solidFill>
            <a:srgbClr val="1A1A1A"/>
          </a:solidFill>
          <a:ln w="6350">
            <a:solidFill>
              <a:srgbClr val="2A2A2A"/>
            </a:solidFill>
            <a:prstDash val="solid"/>
          </a:ln>
        </p:spPr>
      </p:sp>
      <p:sp>
        <p:nvSpPr>
          <p:cNvPr id="16" name="Shape 13"/>
          <p:cNvSpPr/>
          <p:nvPr/>
        </p:nvSpPr>
        <p:spPr>
          <a:xfrm>
            <a:off x="5916168" y="2075688"/>
            <a:ext cx="1097280" cy="201168"/>
          </a:xfrm>
          <a:prstGeom prst="rect">
            <a:avLst/>
          </a:prstGeom>
          <a:solidFill>
            <a:srgbClr val="000000"/>
          </a:solidFill>
          <a:ln w="6350">
            <a:solidFill>
              <a:srgbClr val="3EDC81"/>
            </a:solidFill>
            <a:prstDash val="solid"/>
          </a:ln>
        </p:spPr>
      </p:sp>
      <p:sp>
        <p:nvSpPr>
          <p:cNvPr id="17" name="Text 14"/>
          <p:cNvSpPr/>
          <p:nvPr/>
        </p:nvSpPr>
        <p:spPr>
          <a:xfrm>
            <a:off x="5916168" y="2075688"/>
            <a:ext cx="1097280" cy="201168"/>
          </a:xfrm>
          <a:prstGeom prst="rect">
            <a:avLst/>
          </a:prstGeom>
          <a:noFill/>
          <a:ln/>
        </p:spPr>
        <p:txBody>
          <a:bodyPr wrap="square" lIns="0" tIns="0" rIns="0" bIns="0" rtlCol="0" anchor="ctr"/>
          <a:lstStyle/>
          <a:p>
            <a:pPr algn="ctr" indent="0" marL="0">
              <a:buNone/>
            </a:pPr>
            <a:r>
              <a:rPr lang="en-US" sz="700" b="1" spc="200" kern="0" dirty="0">
                <a:solidFill>
                  <a:srgbClr val="3EDC81"/>
                </a:solidFill>
                <a:latin typeface="Calibri" pitchFamily="34" charset="0"/>
                <a:ea typeface="Calibri" pitchFamily="34" charset="-122"/>
                <a:cs typeface="Calibri" pitchFamily="34" charset="-120"/>
              </a:rPr>
              <a:t>BLOCKCHAIN</a:t>
            </a:r>
            <a:endParaRPr lang="en-US" sz="700" dirty="0"/>
          </a:p>
        </p:txBody>
      </p:sp>
      <p:sp>
        <p:nvSpPr>
          <p:cNvPr id="18" name="Text 15"/>
          <p:cNvSpPr/>
          <p:nvPr/>
        </p:nvSpPr>
        <p:spPr>
          <a:xfrm>
            <a:off x="4078224" y="2057400"/>
            <a:ext cx="1837944"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BKCOracle</a:t>
            </a:r>
            <a:endParaRPr lang="en-US" sz="1300" dirty="0"/>
          </a:p>
        </p:txBody>
      </p:sp>
      <p:sp>
        <p:nvSpPr>
          <p:cNvPr id="19" name="Text 16"/>
          <p:cNvSpPr/>
          <p:nvPr/>
        </p:nvSpPr>
        <p:spPr>
          <a:xfrm>
            <a:off x="4078224" y="2377440"/>
            <a:ext cx="2935224" cy="502920"/>
          </a:xfrm>
          <a:prstGeom prst="rect">
            <a:avLst/>
          </a:prstGeom>
          <a:noFill/>
          <a:ln/>
        </p:spPr>
        <p:txBody>
          <a:bodyPr wrap="square" rtlCol="0" anchor="ctr"/>
          <a:lstStyle/>
          <a:p>
            <a:pPr indent="0" marL="0">
              <a:buNone/>
            </a:pPr>
            <a:r>
              <a:rPr lang="en-US" sz="900" dirty="0">
                <a:solidFill>
                  <a:srgbClr val="D1D5DB"/>
                </a:solidFill>
                <a:latin typeface="Calibri" pitchFamily="34" charset="0"/>
                <a:ea typeface="Calibri" pitchFamily="34" charset="-122"/>
                <a:cs typeface="Calibri" pitchFamily="34" charset="-120"/>
              </a:rPr>
              <a:t>Oracle system on Bitkub Chain delivering price feeds and verifiable randomness on-chain.</a:t>
            </a:r>
            <a:endParaRPr lang="en-US" sz="900" dirty="0"/>
          </a:p>
        </p:txBody>
      </p:sp>
      <p:sp>
        <p:nvSpPr>
          <p:cNvPr id="20" name="Shape 17"/>
          <p:cNvSpPr/>
          <p:nvPr/>
        </p:nvSpPr>
        <p:spPr>
          <a:xfrm>
            <a:off x="457200" y="2926080"/>
            <a:ext cx="3209544" cy="868680"/>
          </a:xfrm>
          <a:prstGeom prst="rect">
            <a:avLst/>
          </a:prstGeom>
          <a:solidFill>
            <a:srgbClr val="1A1A1A"/>
          </a:solidFill>
          <a:ln w="6350">
            <a:solidFill>
              <a:srgbClr val="2A2A2A"/>
            </a:solidFill>
            <a:prstDash val="solid"/>
          </a:ln>
        </p:spPr>
      </p:sp>
      <p:sp>
        <p:nvSpPr>
          <p:cNvPr id="21" name="Shape 18"/>
          <p:cNvSpPr/>
          <p:nvPr/>
        </p:nvSpPr>
        <p:spPr>
          <a:xfrm>
            <a:off x="2478024" y="3035808"/>
            <a:ext cx="1097280" cy="201168"/>
          </a:xfrm>
          <a:prstGeom prst="rect">
            <a:avLst/>
          </a:prstGeom>
          <a:solidFill>
            <a:srgbClr val="000000"/>
          </a:solidFill>
          <a:ln w="6350">
            <a:solidFill>
              <a:srgbClr val="3EDC81"/>
            </a:solidFill>
            <a:prstDash val="solid"/>
          </a:ln>
        </p:spPr>
      </p:sp>
      <p:sp>
        <p:nvSpPr>
          <p:cNvPr id="22" name="Text 19"/>
          <p:cNvSpPr/>
          <p:nvPr/>
        </p:nvSpPr>
        <p:spPr>
          <a:xfrm>
            <a:off x="2478024" y="3035808"/>
            <a:ext cx="1097280" cy="201168"/>
          </a:xfrm>
          <a:prstGeom prst="rect">
            <a:avLst/>
          </a:prstGeom>
          <a:noFill/>
          <a:ln/>
        </p:spPr>
        <p:txBody>
          <a:bodyPr wrap="square" lIns="0" tIns="0" rIns="0" bIns="0" rtlCol="0" anchor="ctr"/>
          <a:lstStyle/>
          <a:p>
            <a:pPr algn="ctr" indent="0" marL="0">
              <a:buNone/>
            </a:pPr>
            <a:r>
              <a:rPr lang="en-US" sz="700" b="1" spc="200" kern="0" dirty="0">
                <a:solidFill>
                  <a:srgbClr val="3EDC81"/>
                </a:solidFill>
                <a:latin typeface="Calibri" pitchFamily="34" charset="0"/>
                <a:ea typeface="Calibri" pitchFamily="34" charset="-122"/>
                <a:cs typeface="Calibri" pitchFamily="34" charset="-120"/>
              </a:rPr>
              <a:t>WEB PLATFORM</a:t>
            </a:r>
            <a:endParaRPr lang="en-US" sz="700" dirty="0"/>
          </a:p>
        </p:txBody>
      </p:sp>
      <p:sp>
        <p:nvSpPr>
          <p:cNvPr id="23" name="Text 20"/>
          <p:cNvSpPr/>
          <p:nvPr/>
        </p:nvSpPr>
        <p:spPr>
          <a:xfrm>
            <a:off x="640080" y="3017520"/>
            <a:ext cx="1837944"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GoodGeek</a:t>
            </a:r>
            <a:endParaRPr lang="en-US" sz="1300" dirty="0"/>
          </a:p>
        </p:txBody>
      </p:sp>
      <p:sp>
        <p:nvSpPr>
          <p:cNvPr id="24" name="Text 21"/>
          <p:cNvSpPr/>
          <p:nvPr/>
        </p:nvSpPr>
        <p:spPr>
          <a:xfrm>
            <a:off x="640080" y="3337560"/>
            <a:ext cx="2935224" cy="502920"/>
          </a:xfrm>
          <a:prstGeom prst="rect">
            <a:avLst/>
          </a:prstGeom>
          <a:noFill/>
          <a:ln/>
        </p:spPr>
        <p:txBody>
          <a:bodyPr wrap="square" rtlCol="0" anchor="ctr"/>
          <a:lstStyle/>
          <a:p>
            <a:pPr indent="0" marL="0">
              <a:buNone/>
            </a:pPr>
            <a:r>
              <a:rPr lang="en-US" sz="900" dirty="0">
                <a:solidFill>
                  <a:srgbClr val="D1D5DB"/>
                </a:solidFill>
                <a:latin typeface="Calibri" pitchFamily="34" charset="0"/>
                <a:ea typeface="Calibri" pitchFamily="34" charset="-122"/>
                <a:cs typeface="Calibri" pitchFamily="34" charset="-120"/>
              </a:rPr>
              <a:t>Thai crowdfunding platform connecting thinkers and builders with their supporters.</a:t>
            </a:r>
            <a:endParaRPr lang="en-US" sz="900" dirty="0"/>
          </a:p>
        </p:txBody>
      </p:sp>
      <p:sp>
        <p:nvSpPr>
          <p:cNvPr id="25" name="Shape 22"/>
          <p:cNvSpPr/>
          <p:nvPr/>
        </p:nvSpPr>
        <p:spPr>
          <a:xfrm>
            <a:off x="3895344" y="2926080"/>
            <a:ext cx="3209544" cy="868680"/>
          </a:xfrm>
          <a:prstGeom prst="rect">
            <a:avLst/>
          </a:prstGeom>
          <a:solidFill>
            <a:srgbClr val="1A1A1A"/>
          </a:solidFill>
          <a:ln w="6350">
            <a:solidFill>
              <a:srgbClr val="2A2A2A"/>
            </a:solidFill>
            <a:prstDash val="solid"/>
          </a:ln>
        </p:spPr>
      </p:sp>
      <p:sp>
        <p:nvSpPr>
          <p:cNvPr id="26" name="Shape 23"/>
          <p:cNvSpPr/>
          <p:nvPr/>
        </p:nvSpPr>
        <p:spPr>
          <a:xfrm>
            <a:off x="5916168" y="3035808"/>
            <a:ext cx="1097280" cy="201168"/>
          </a:xfrm>
          <a:prstGeom prst="rect">
            <a:avLst/>
          </a:prstGeom>
          <a:solidFill>
            <a:srgbClr val="000000"/>
          </a:solidFill>
          <a:ln w="6350">
            <a:solidFill>
              <a:srgbClr val="3EDC81"/>
            </a:solidFill>
            <a:prstDash val="solid"/>
          </a:ln>
        </p:spPr>
      </p:sp>
      <p:sp>
        <p:nvSpPr>
          <p:cNvPr id="27" name="Text 24"/>
          <p:cNvSpPr/>
          <p:nvPr/>
        </p:nvSpPr>
        <p:spPr>
          <a:xfrm>
            <a:off x="5916168" y="3035808"/>
            <a:ext cx="1097280" cy="201168"/>
          </a:xfrm>
          <a:prstGeom prst="rect">
            <a:avLst/>
          </a:prstGeom>
          <a:noFill/>
          <a:ln/>
        </p:spPr>
        <p:txBody>
          <a:bodyPr wrap="square" lIns="0" tIns="0" rIns="0" bIns="0" rtlCol="0" anchor="ctr"/>
          <a:lstStyle/>
          <a:p>
            <a:pPr algn="ctr" indent="0" marL="0">
              <a:buNone/>
            </a:pPr>
            <a:r>
              <a:rPr lang="en-US" sz="700" b="1" spc="200" kern="0" dirty="0">
                <a:solidFill>
                  <a:srgbClr val="3EDC81"/>
                </a:solidFill>
                <a:latin typeface="Calibri" pitchFamily="34" charset="0"/>
                <a:ea typeface="Calibri" pitchFamily="34" charset="-122"/>
                <a:cs typeface="Calibri" pitchFamily="34" charset="-120"/>
              </a:rPr>
              <a:t>ENTERPRISE</a:t>
            </a:r>
            <a:endParaRPr lang="en-US" sz="700" dirty="0"/>
          </a:p>
        </p:txBody>
      </p:sp>
      <p:sp>
        <p:nvSpPr>
          <p:cNvPr id="28" name="Text 25"/>
          <p:cNvSpPr/>
          <p:nvPr/>
        </p:nvSpPr>
        <p:spPr>
          <a:xfrm>
            <a:off x="4078224" y="3017520"/>
            <a:ext cx="1837944"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Zchoolmate</a:t>
            </a:r>
            <a:endParaRPr lang="en-US" sz="1300" dirty="0"/>
          </a:p>
        </p:txBody>
      </p:sp>
      <p:sp>
        <p:nvSpPr>
          <p:cNvPr id="29" name="Text 26"/>
          <p:cNvSpPr/>
          <p:nvPr/>
        </p:nvSpPr>
        <p:spPr>
          <a:xfrm>
            <a:off x="4078224" y="3337560"/>
            <a:ext cx="2935224" cy="502920"/>
          </a:xfrm>
          <a:prstGeom prst="rect">
            <a:avLst/>
          </a:prstGeom>
          <a:noFill/>
          <a:ln/>
        </p:spPr>
        <p:txBody>
          <a:bodyPr wrap="square" rtlCol="0" anchor="ctr"/>
          <a:lstStyle/>
          <a:p>
            <a:pPr indent="0" marL="0">
              <a:buNone/>
            </a:pPr>
            <a:r>
              <a:rPr lang="en-US" sz="900" dirty="0">
                <a:solidFill>
                  <a:srgbClr val="D1D5DB"/>
                </a:solidFill>
                <a:latin typeface="Calibri" pitchFamily="34" charset="0"/>
                <a:ea typeface="Calibri" pitchFamily="34" charset="-122"/>
                <a:cs typeface="Calibri" pitchFamily="34" charset="-120"/>
              </a:rPr>
              <a:t>Complete school management system — attendance, cafeteria POS, grading, enrollment, finance.</a:t>
            </a:r>
            <a:endParaRPr lang="en-US" sz="900" dirty="0"/>
          </a:p>
        </p:txBody>
      </p:sp>
      <p:sp>
        <p:nvSpPr>
          <p:cNvPr id="30" name="Shape 27"/>
          <p:cNvSpPr/>
          <p:nvPr/>
        </p:nvSpPr>
        <p:spPr>
          <a:xfrm>
            <a:off x="457200" y="3886200"/>
            <a:ext cx="3209544" cy="868680"/>
          </a:xfrm>
          <a:prstGeom prst="rect">
            <a:avLst/>
          </a:prstGeom>
          <a:solidFill>
            <a:srgbClr val="1A1A1A"/>
          </a:solidFill>
          <a:ln w="6350">
            <a:solidFill>
              <a:srgbClr val="2A2A2A"/>
            </a:solidFill>
            <a:prstDash val="solid"/>
          </a:ln>
        </p:spPr>
      </p:sp>
      <p:sp>
        <p:nvSpPr>
          <p:cNvPr id="31" name="Shape 28"/>
          <p:cNvSpPr/>
          <p:nvPr/>
        </p:nvSpPr>
        <p:spPr>
          <a:xfrm>
            <a:off x="2478024" y="3995928"/>
            <a:ext cx="1097280" cy="201168"/>
          </a:xfrm>
          <a:prstGeom prst="rect">
            <a:avLst/>
          </a:prstGeom>
          <a:solidFill>
            <a:srgbClr val="000000"/>
          </a:solidFill>
          <a:ln w="6350">
            <a:solidFill>
              <a:srgbClr val="3EDC81"/>
            </a:solidFill>
            <a:prstDash val="solid"/>
          </a:ln>
        </p:spPr>
      </p:sp>
      <p:sp>
        <p:nvSpPr>
          <p:cNvPr id="32" name="Text 29"/>
          <p:cNvSpPr/>
          <p:nvPr/>
        </p:nvSpPr>
        <p:spPr>
          <a:xfrm>
            <a:off x="2478024" y="3995928"/>
            <a:ext cx="1097280" cy="201168"/>
          </a:xfrm>
          <a:prstGeom prst="rect">
            <a:avLst/>
          </a:prstGeom>
          <a:noFill/>
          <a:ln/>
        </p:spPr>
        <p:txBody>
          <a:bodyPr wrap="square" lIns="0" tIns="0" rIns="0" bIns="0" rtlCol="0" anchor="ctr"/>
          <a:lstStyle/>
          <a:p>
            <a:pPr algn="ctr" indent="0" marL="0">
              <a:buNone/>
            </a:pPr>
            <a:r>
              <a:rPr lang="en-US" sz="700" b="1" spc="200" kern="0" dirty="0">
                <a:solidFill>
                  <a:srgbClr val="3EDC81"/>
                </a:solidFill>
                <a:latin typeface="Calibri" pitchFamily="34" charset="0"/>
                <a:ea typeface="Calibri" pitchFamily="34" charset="-122"/>
                <a:cs typeface="Calibri" pitchFamily="34" charset="-120"/>
              </a:rPr>
              <a:t>AI / ENTERPRISE</a:t>
            </a:r>
            <a:endParaRPr lang="en-US" sz="700" dirty="0"/>
          </a:p>
        </p:txBody>
      </p:sp>
      <p:sp>
        <p:nvSpPr>
          <p:cNvPr id="33" name="Text 30"/>
          <p:cNvSpPr/>
          <p:nvPr/>
        </p:nvSpPr>
        <p:spPr>
          <a:xfrm>
            <a:off x="640080" y="3977640"/>
            <a:ext cx="1837944"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Carbon Audit</a:t>
            </a:r>
            <a:endParaRPr lang="en-US" sz="1300" dirty="0"/>
          </a:p>
        </p:txBody>
      </p:sp>
      <p:sp>
        <p:nvSpPr>
          <p:cNvPr id="34" name="Text 31"/>
          <p:cNvSpPr/>
          <p:nvPr/>
        </p:nvSpPr>
        <p:spPr>
          <a:xfrm>
            <a:off x="640080" y="4297680"/>
            <a:ext cx="2935224" cy="502920"/>
          </a:xfrm>
          <a:prstGeom prst="rect">
            <a:avLst/>
          </a:prstGeom>
          <a:noFill/>
          <a:ln/>
        </p:spPr>
        <p:txBody>
          <a:bodyPr wrap="square" rtlCol="0" anchor="ctr"/>
          <a:lstStyle/>
          <a:p>
            <a:pPr indent="0" marL="0">
              <a:buNone/>
            </a:pPr>
            <a:r>
              <a:rPr lang="en-US" sz="900" dirty="0">
                <a:solidFill>
                  <a:srgbClr val="D1D5DB"/>
                </a:solidFill>
                <a:latin typeface="Calibri" pitchFamily="34" charset="0"/>
                <a:ea typeface="Calibri" pitchFamily="34" charset="-122"/>
                <a:cs typeface="Calibri" pitchFamily="34" charset="-120"/>
              </a:rPr>
              <a:t>AI-powered carbon accounting — automated data entry and emissions calculation.</a:t>
            </a:r>
            <a:endParaRPr lang="en-US" sz="900" dirty="0"/>
          </a:p>
        </p:txBody>
      </p:sp>
      <p:sp>
        <p:nvSpPr>
          <p:cNvPr id="35" name="Shape 32"/>
          <p:cNvSpPr/>
          <p:nvPr/>
        </p:nvSpPr>
        <p:spPr>
          <a:xfrm>
            <a:off x="3895344" y="3886200"/>
            <a:ext cx="3209544" cy="868680"/>
          </a:xfrm>
          <a:prstGeom prst="rect">
            <a:avLst/>
          </a:prstGeom>
          <a:solidFill>
            <a:srgbClr val="1A1A1A"/>
          </a:solidFill>
          <a:ln w="6350">
            <a:solidFill>
              <a:srgbClr val="2A2A2A"/>
            </a:solidFill>
            <a:prstDash val="solid"/>
          </a:ln>
        </p:spPr>
      </p:sp>
      <p:sp>
        <p:nvSpPr>
          <p:cNvPr id="36" name="Shape 33"/>
          <p:cNvSpPr/>
          <p:nvPr/>
        </p:nvSpPr>
        <p:spPr>
          <a:xfrm>
            <a:off x="5916168" y="3995928"/>
            <a:ext cx="1097280" cy="201168"/>
          </a:xfrm>
          <a:prstGeom prst="rect">
            <a:avLst/>
          </a:prstGeom>
          <a:solidFill>
            <a:srgbClr val="000000"/>
          </a:solidFill>
          <a:ln w="6350">
            <a:solidFill>
              <a:srgbClr val="3EDC81"/>
            </a:solidFill>
            <a:prstDash val="solid"/>
          </a:ln>
        </p:spPr>
      </p:sp>
      <p:sp>
        <p:nvSpPr>
          <p:cNvPr id="37" name="Text 34"/>
          <p:cNvSpPr/>
          <p:nvPr/>
        </p:nvSpPr>
        <p:spPr>
          <a:xfrm>
            <a:off x="5916168" y="3995928"/>
            <a:ext cx="1097280" cy="201168"/>
          </a:xfrm>
          <a:prstGeom prst="rect">
            <a:avLst/>
          </a:prstGeom>
          <a:noFill/>
          <a:ln/>
        </p:spPr>
        <p:txBody>
          <a:bodyPr wrap="square" lIns="0" tIns="0" rIns="0" bIns="0" rtlCol="0" anchor="ctr"/>
          <a:lstStyle/>
          <a:p>
            <a:pPr algn="ctr" indent="0" marL="0">
              <a:buNone/>
            </a:pPr>
            <a:r>
              <a:rPr lang="en-US" sz="700" b="1" spc="200" kern="0" dirty="0">
                <a:solidFill>
                  <a:srgbClr val="3EDC81"/>
                </a:solidFill>
                <a:latin typeface="Calibri" pitchFamily="34" charset="0"/>
                <a:ea typeface="Calibri" pitchFamily="34" charset="-122"/>
                <a:cs typeface="Calibri" pitchFamily="34" charset="-120"/>
              </a:rPr>
              <a:t>COMPUTER VISION</a:t>
            </a:r>
            <a:endParaRPr lang="en-US" sz="700" dirty="0"/>
          </a:p>
        </p:txBody>
      </p:sp>
      <p:sp>
        <p:nvSpPr>
          <p:cNvPr id="38" name="Text 35"/>
          <p:cNvSpPr/>
          <p:nvPr/>
        </p:nvSpPr>
        <p:spPr>
          <a:xfrm>
            <a:off x="4078224" y="3977640"/>
            <a:ext cx="1837944"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Mattress Defect AI</a:t>
            </a:r>
            <a:endParaRPr lang="en-US" sz="1300" dirty="0"/>
          </a:p>
        </p:txBody>
      </p:sp>
      <p:sp>
        <p:nvSpPr>
          <p:cNvPr id="39" name="Text 36"/>
          <p:cNvSpPr/>
          <p:nvPr/>
        </p:nvSpPr>
        <p:spPr>
          <a:xfrm>
            <a:off x="4078224" y="4297680"/>
            <a:ext cx="2935224" cy="502920"/>
          </a:xfrm>
          <a:prstGeom prst="rect">
            <a:avLst/>
          </a:prstGeom>
          <a:noFill/>
          <a:ln/>
        </p:spPr>
        <p:txBody>
          <a:bodyPr wrap="square" rtlCol="0" anchor="ctr"/>
          <a:lstStyle/>
          <a:p>
            <a:pPr indent="0" marL="0">
              <a:buNone/>
            </a:pPr>
            <a:r>
              <a:rPr lang="en-US" sz="900" dirty="0">
                <a:solidFill>
                  <a:srgbClr val="D1D5DB"/>
                </a:solidFill>
                <a:latin typeface="Calibri" pitchFamily="34" charset="0"/>
                <a:ea typeface="Calibri" pitchFamily="34" charset="-122"/>
                <a:cs typeface="Calibri" pitchFamily="34" charset="-120"/>
              </a:rPr>
              <a:t>Custom-trained model detecting manufacturing defects, deployed to quality-control line.</a:t>
            </a:r>
            <a:endParaRPr lang="en-US" sz="900" dirty="0"/>
          </a:p>
        </p:txBody>
      </p:sp>
      <p:sp>
        <p:nvSpPr>
          <p:cNvPr id="40" name="Shape 37"/>
          <p:cNvSpPr/>
          <p:nvPr/>
        </p:nvSpPr>
        <p:spPr>
          <a:xfrm>
            <a:off x="457200" y="4846320"/>
            <a:ext cx="3209544" cy="868680"/>
          </a:xfrm>
          <a:prstGeom prst="rect">
            <a:avLst/>
          </a:prstGeom>
          <a:solidFill>
            <a:srgbClr val="1A1A1A"/>
          </a:solidFill>
          <a:ln w="6350">
            <a:solidFill>
              <a:srgbClr val="2A2A2A"/>
            </a:solidFill>
            <a:prstDash val="solid"/>
          </a:ln>
        </p:spPr>
      </p:sp>
      <p:sp>
        <p:nvSpPr>
          <p:cNvPr id="41" name="Shape 38"/>
          <p:cNvSpPr/>
          <p:nvPr/>
        </p:nvSpPr>
        <p:spPr>
          <a:xfrm>
            <a:off x="2478024" y="4956048"/>
            <a:ext cx="1097280" cy="201168"/>
          </a:xfrm>
          <a:prstGeom prst="rect">
            <a:avLst/>
          </a:prstGeom>
          <a:solidFill>
            <a:srgbClr val="000000"/>
          </a:solidFill>
          <a:ln w="6350">
            <a:solidFill>
              <a:srgbClr val="3EDC81"/>
            </a:solidFill>
            <a:prstDash val="solid"/>
          </a:ln>
        </p:spPr>
      </p:sp>
      <p:sp>
        <p:nvSpPr>
          <p:cNvPr id="42" name="Text 39"/>
          <p:cNvSpPr/>
          <p:nvPr/>
        </p:nvSpPr>
        <p:spPr>
          <a:xfrm>
            <a:off x="2478024" y="4956048"/>
            <a:ext cx="1097280" cy="201168"/>
          </a:xfrm>
          <a:prstGeom prst="rect">
            <a:avLst/>
          </a:prstGeom>
          <a:noFill/>
          <a:ln/>
        </p:spPr>
        <p:txBody>
          <a:bodyPr wrap="square" lIns="0" tIns="0" rIns="0" bIns="0" rtlCol="0" anchor="ctr"/>
          <a:lstStyle/>
          <a:p>
            <a:pPr algn="ctr" indent="0" marL="0">
              <a:buNone/>
            </a:pPr>
            <a:r>
              <a:rPr lang="en-US" sz="700" b="1" spc="200" kern="0" dirty="0">
                <a:solidFill>
                  <a:srgbClr val="3EDC81"/>
                </a:solidFill>
                <a:latin typeface="Calibri" pitchFamily="34" charset="0"/>
                <a:ea typeface="Calibri" pitchFamily="34" charset="-122"/>
                <a:cs typeface="Calibri" pitchFamily="34" charset="-120"/>
              </a:rPr>
              <a:t>GOV / TOURISM</a:t>
            </a:r>
            <a:endParaRPr lang="en-US" sz="700" dirty="0"/>
          </a:p>
        </p:txBody>
      </p:sp>
      <p:sp>
        <p:nvSpPr>
          <p:cNvPr id="43" name="Text 40"/>
          <p:cNvSpPr/>
          <p:nvPr/>
        </p:nvSpPr>
        <p:spPr>
          <a:xfrm>
            <a:off x="640080" y="4937760"/>
            <a:ext cx="1837944"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Digital Twin Andaman</a:t>
            </a:r>
            <a:endParaRPr lang="en-US" sz="1300" dirty="0"/>
          </a:p>
        </p:txBody>
      </p:sp>
      <p:sp>
        <p:nvSpPr>
          <p:cNvPr id="44" name="Text 41"/>
          <p:cNvSpPr/>
          <p:nvPr/>
        </p:nvSpPr>
        <p:spPr>
          <a:xfrm>
            <a:off x="640080" y="5257800"/>
            <a:ext cx="2935224" cy="502920"/>
          </a:xfrm>
          <a:prstGeom prst="rect">
            <a:avLst/>
          </a:prstGeom>
          <a:noFill/>
          <a:ln/>
        </p:spPr>
        <p:txBody>
          <a:bodyPr wrap="square" rtlCol="0" anchor="ctr"/>
          <a:lstStyle/>
          <a:p>
            <a:pPr indent="0" marL="0">
              <a:buNone/>
            </a:pPr>
            <a:r>
              <a:rPr lang="en-US" sz="900" dirty="0">
                <a:solidFill>
                  <a:srgbClr val="D1D5DB"/>
                </a:solidFill>
                <a:latin typeface="Calibri" pitchFamily="34" charset="0"/>
                <a:ea typeface="Calibri" pitchFamily="34" charset="-122"/>
                <a:cs typeface="Calibri" pitchFamily="34" charset="-120"/>
              </a:rPr>
              <a:t>In-depth tourism analytics platform for the Andaman provinces with geospatial data.</a:t>
            </a:r>
            <a:endParaRPr lang="en-US" sz="900" dirty="0"/>
          </a:p>
        </p:txBody>
      </p:sp>
      <p:sp>
        <p:nvSpPr>
          <p:cNvPr id="45" name="Shape 42"/>
          <p:cNvSpPr/>
          <p:nvPr/>
        </p:nvSpPr>
        <p:spPr>
          <a:xfrm>
            <a:off x="3895344" y="4846320"/>
            <a:ext cx="3209544" cy="868680"/>
          </a:xfrm>
          <a:prstGeom prst="rect">
            <a:avLst/>
          </a:prstGeom>
          <a:solidFill>
            <a:srgbClr val="1A1A1A"/>
          </a:solidFill>
          <a:ln w="6350">
            <a:solidFill>
              <a:srgbClr val="2A2A2A"/>
            </a:solidFill>
            <a:prstDash val="solid"/>
          </a:ln>
        </p:spPr>
      </p:sp>
      <p:sp>
        <p:nvSpPr>
          <p:cNvPr id="46" name="Shape 43"/>
          <p:cNvSpPr/>
          <p:nvPr/>
        </p:nvSpPr>
        <p:spPr>
          <a:xfrm>
            <a:off x="5916168" y="4956048"/>
            <a:ext cx="1097280" cy="201168"/>
          </a:xfrm>
          <a:prstGeom prst="rect">
            <a:avLst/>
          </a:prstGeom>
          <a:solidFill>
            <a:srgbClr val="000000"/>
          </a:solidFill>
          <a:ln w="6350">
            <a:solidFill>
              <a:srgbClr val="3EDC81"/>
            </a:solidFill>
            <a:prstDash val="solid"/>
          </a:ln>
        </p:spPr>
      </p:sp>
      <p:sp>
        <p:nvSpPr>
          <p:cNvPr id="47" name="Text 44"/>
          <p:cNvSpPr/>
          <p:nvPr/>
        </p:nvSpPr>
        <p:spPr>
          <a:xfrm>
            <a:off x="5916168" y="4956048"/>
            <a:ext cx="1097280" cy="201168"/>
          </a:xfrm>
          <a:prstGeom prst="rect">
            <a:avLst/>
          </a:prstGeom>
          <a:noFill/>
          <a:ln/>
        </p:spPr>
        <p:txBody>
          <a:bodyPr wrap="square" lIns="0" tIns="0" rIns="0" bIns="0" rtlCol="0" anchor="ctr"/>
          <a:lstStyle/>
          <a:p>
            <a:pPr algn="ctr" indent="0" marL="0">
              <a:buNone/>
            </a:pPr>
            <a:r>
              <a:rPr lang="en-US" sz="700" b="1" spc="200" kern="0" dirty="0">
                <a:solidFill>
                  <a:srgbClr val="3EDC81"/>
                </a:solidFill>
                <a:latin typeface="Calibri" pitchFamily="34" charset="0"/>
                <a:ea typeface="Calibri" pitchFamily="34" charset="-122"/>
                <a:cs typeface="Calibri" pitchFamily="34" charset="-120"/>
              </a:rPr>
              <a:t>AI / LINE</a:t>
            </a:r>
            <a:endParaRPr lang="en-US" sz="700" dirty="0"/>
          </a:p>
        </p:txBody>
      </p:sp>
      <p:sp>
        <p:nvSpPr>
          <p:cNvPr id="48" name="Text 45"/>
          <p:cNvSpPr/>
          <p:nvPr/>
        </p:nvSpPr>
        <p:spPr>
          <a:xfrm>
            <a:off x="4078224" y="4937760"/>
            <a:ext cx="1837944"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Khaya</a:t>
            </a:r>
            <a:endParaRPr lang="en-US" sz="1300" dirty="0"/>
          </a:p>
        </p:txBody>
      </p:sp>
      <p:sp>
        <p:nvSpPr>
          <p:cNvPr id="49" name="Text 46"/>
          <p:cNvSpPr/>
          <p:nvPr/>
        </p:nvSpPr>
        <p:spPr>
          <a:xfrm>
            <a:off x="4078224" y="5257800"/>
            <a:ext cx="2935224" cy="502920"/>
          </a:xfrm>
          <a:prstGeom prst="rect">
            <a:avLst/>
          </a:prstGeom>
          <a:noFill/>
          <a:ln/>
        </p:spPr>
        <p:txBody>
          <a:bodyPr wrap="square" rtlCol="0" anchor="ctr"/>
          <a:lstStyle/>
          <a:p>
            <a:pPr indent="0" marL="0">
              <a:buNone/>
            </a:pPr>
            <a:r>
              <a:rPr lang="en-US" sz="900" dirty="0">
                <a:solidFill>
                  <a:srgbClr val="D1D5DB"/>
                </a:solidFill>
                <a:latin typeface="Calibri" pitchFamily="34" charset="0"/>
                <a:ea typeface="Calibri" pitchFamily="34" charset="-122"/>
                <a:cs typeface="Calibri" pitchFamily="34" charset="-120"/>
              </a:rPr>
              <a:t>LINE chatbot identifying waste types from photos using AI-powered image recognition.</a:t>
            </a:r>
            <a:endParaRPr lang="en-US" sz="900" dirty="0"/>
          </a:p>
        </p:txBody>
      </p:sp>
      <p:sp>
        <p:nvSpPr>
          <p:cNvPr id="50" name="Text 47"/>
          <p:cNvSpPr/>
          <p:nvPr/>
        </p:nvSpPr>
        <p:spPr>
          <a:xfrm>
            <a:off x="457200" y="5989320"/>
            <a:ext cx="4572000" cy="274320"/>
          </a:xfrm>
          <a:prstGeom prst="rect">
            <a:avLst/>
          </a:prstGeom>
          <a:noFill/>
          <a:ln/>
        </p:spPr>
        <p:txBody>
          <a:bodyPr wrap="square" rtlCol="0" anchor="ctr"/>
          <a:lstStyle/>
          <a:p>
            <a:pPr indent="0" marL="0">
              <a:buNone/>
            </a:pPr>
            <a:r>
              <a:rPr lang="en-US" sz="1000" b="1" spc="500" kern="0" dirty="0">
                <a:solidFill>
                  <a:srgbClr val="3EDC81"/>
                </a:solidFill>
                <a:latin typeface="Calibri" pitchFamily="34" charset="0"/>
                <a:ea typeface="Calibri" pitchFamily="34" charset="-122"/>
                <a:cs typeface="Calibri" pitchFamily="34" charset="-120"/>
              </a:rPr>
              <a:t>RECOGNITION</a:t>
            </a:r>
            <a:endParaRPr lang="en-US" sz="1000" dirty="0"/>
          </a:p>
        </p:txBody>
      </p:sp>
      <p:sp>
        <p:nvSpPr>
          <p:cNvPr id="51" name="Shape 48"/>
          <p:cNvSpPr/>
          <p:nvPr/>
        </p:nvSpPr>
        <p:spPr>
          <a:xfrm>
            <a:off x="457200" y="6419088"/>
            <a:ext cx="91440" cy="91440"/>
          </a:xfrm>
          <a:prstGeom prst="ellipse">
            <a:avLst/>
          </a:prstGeom>
          <a:solidFill>
            <a:srgbClr val="3EDC81"/>
          </a:solidFill>
          <a:ln w="12700">
            <a:solidFill>
              <a:srgbClr val="333333"/>
            </a:solidFill>
            <a:prstDash val="solid"/>
          </a:ln>
        </p:spPr>
      </p:sp>
      <p:sp>
        <p:nvSpPr>
          <p:cNvPr id="52" name="Text 49"/>
          <p:cNvSpPr/>
          <p:nvPr/>
        </p:nvSpPr>
        <p:spPr>
          <a:xfrm>
            <a:off x="640080" y="6355080"/>
            <a:ext cx="2926080"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ETHGlobal Bangkok 2024</a:t>
            </a:r>
            <a:endParaRPr lang="en-US" sz="1000" dirty="0"/>
          </a:p>
        </p:txBody>
      </p:sp>
      <p:sp>
        <p:nvSpPr>
          <p:cNvPr id="53" name="Text 50"/>
          <p:cNvSpPr/>
          <p:nvPr/>
        </p:nvSpPr>
        <p:spPr>
          <a:xfrm>
            <a:off x="3657600" y="6355080"/>
            <a:ext cx="3447288" cy="256032"/>
          </a:xfrm>
          <a:prstGeom prst="rect">
            <a:avLst/>
          </a:prstGeom>
          <a:noFill/>
          <a:ln/>
        </p:spPr>
        <p:txBody>
          <a:bodyPr wrap="square" rtlCol="0" anchor="ctr"/>
          <a:lstStyle/>
          <a:p>
            <a:pPr indent="0" marL="0">
              <a:buNone/>
            </a:pPr>
            <a:r>
              <a:rPr lang="en-US" sz="900" i="1" dirty="0">
                <a:solidFill>
                  <a:srgbClr val="D1D5DB"/>
                </a:solidFill>
                <a:latin typeface="Calibri" pitchFamily="34" charset="0"/>
                <a:ea typeface="Calibri" pitchFamily="34" charset="-122"/>
                <a:cs typeface="Calibri" pitchFamily="34" charset="-120"/>
              </a:rPr>
              <a:t>Blockscout Big Pool · Chronicle Protocol</a:t>
            </a:r>
            <a:endParaRPr lang="en-US" sz="900" dirty="0"/>
          </a:p>
        </p:txBody>
      </p:sp>
      <p:sp>
        <p:nvSpPr>
          <p:cNvPr id="54" name="Shape 51"/>
          <p:cNvSpPr/>
          <p:nvPr/>
        </p:nvSpPr>
        <p:spPr>
          <a:xfrm>
            <a:off x="457200" y="6675120"/>
            <a:ext cx="91440" cy="91440"/>
          </a:xfrm>
          <a:prstGeom prst="ellipse">
            <a:avLst/>
          </a:prstGeom>
          <a:solidFill>
            <a:srgbClr val="3EDC81"/>
          </a:solidFill>
          <a:ln w="12700">
            <a:solidFill>
              <a:srgbClr val="333333"/>
            </a:solidFill>
            <a:prstDash val="solid"/>
          </a:ln>
        </p:spPr>
      </p:sp>
      <p:sp>
        <p:nvSpPr>
          <p:cNvPr id="55" name="Text 52"/>
          <p:cNvSpPr/>
          <p:nvPr/>
        </p:nvSpPr>
        <p:spPr>
          <a:xfrm>
            <a:off x="640080" y="6611112"/>
            <a:ext cx="2926080"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ETHGlobal Singapore 2024</a:t>
            </a:r>
            <a:endParaRPr lang="en-US" sz="1000" dirty="0"/>
          </a:p>
        </p:txBody>
      </p:sp>
      <p:sp>
        <p:nvSpPr>
          <p:cNvPr id="56" name="Text 53"/>
          <p:cNvSpPr/>
          <p:nvPr/>
        </p:nvSpPr>
        <p:spPr>
          <a:xfrm>
            <a:off x="3657600" y="6611112"/>
            <a:ext cx="3447288" cy="256032"/>
          </a:xfrm>
          <a:prstGeom prst="rect">
            <a:avLst/>
          </a:prstGeom>
          <a:noFill/>
          <a:ln/>
        </p:spPr>
        <p:txBody>
          <a:bodyPr wrap="square" rtlCol="0" anchor="ctr"/>
          <a:lstStyle/>
          <a:p>
            <a:pPr indent="0" marL="0">
              <a:buNone/>
            </a:pPr>
            <a:r>
              <a:rPr lang="en-US" sz="900" i="1" dirty="0">
                <a:solidFill>
                  <a:srgbClr val="D1D5DB"/>
                </a:solidFill>
                <a:latin typeface="Calibri" pitchFamily="34" charset="0"/>
                <a:ea typeface="Calibri" pitchFamily="34" charset="-122"/>
                <a:cs typeface="Calibri" pitchFamily="34" charset="-120"/>
              </a:rPr>
              <a:t>Chainlink · Metamask/Linea · Worldcoin</a:t>
            </a:r>
            <a:endParaRPr lang="en-US" sz="900" dirty="0"/>
          </a:p>
        </p:txBody>
      </p:sp>
      <p:sp>
        <p:nvSpPr>
          <p:cNvPr id="57" name="Shape 54"/>
          <p:cNvSpPr/>
          <p:nvPr/>
        </p:nvSpPr>
        <p:spPr>
          <a:xfrm>
            <a:off x="457200" y="6931152"/>
            <a:ext cx="91440" cy="91440"/>
          </a:xfrm>
          <a:prstGeom prst="ellipse">
            <a:avLst/>
          </a:prstGeom>
          <a:solidFill>
            <a:srgbClr val="3EDC81"/>
          </a:solidFill>
          <a:ln w="12700">
            <a:solidFill>
              <a:srgbClr val="333333"/>
            </a:solidFill>
            <a:prstDash val="solid"/>
          </a:ln>
        </p:spPr>
      </p:sp>
      <p:sp>
        <p:nvSpPr>
          <p:cNvPr id="58" name="Text 55"/>
          <p:cNvSpPr/>
          <p:nvPr/>
        </p:nvSpPr>
        <p:spPr>
          <a:xfrm>
            <a:off x="640080" y="6867144"/>
            <a:ext cx="2926080"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ETHGlobal Istanbul 2023</a:t>
            </a:r>
            <a:endParaRPr lang="en-US" sz="1000" dirty="0"/>
          </a:p>
        </p:txBody>
      </p:sp>
      <p:sp>
        <p:nvSpPr>
          <p:cNvPr id="59" name="Text 56"/>
          <p:cNvSpPr/>
          <p:nvPr/>
        </p:nvSpPr>
        <p:spPr>
          <a:xfrm>
            <a:off x="3657600" y="6867144"/>
            <a:ext cx="3447288" cy="256032"/>
          </a:xfrm>
          <a:prstGeom prst="rect">
            <a:avLst/>
          </a:prstGeom>
          <a:noFill/>
          <a:ln/>
        </p:spPr>
        <p:txBody>
          <a:bodyPr wrap="square" rtlCol="0" anchor="ctr"/>
          <a:lstStyle/>
          <a:p>
            <a:pPr indent="0" marL="0">
              <a:buNone/>
            </a:pPr>
            <a:r>
              <a:rPr lang="en-US" sz="900" i="1" dirty="0">
                <a:solidFill>
                  <a:srgbClr val="D1D5DB"/>
                </a:solidFill>
                <a:latin typeface="Calibri" pitchFamily="34" charset="0"/>
                <a:ea typeface="Calibri" pitchFamily="34" charset="-122"/>
                <a:cs typeface="Calibri" pitchFamily="34" charset="-120"/>
              </a:rPr>
              <a:t>Chiliz · Scroll · Waku · Gnosis</a:t>
            </a:r>
            <a:endParaRPr lang="en-US" sz="900" dirty="0"/>
          </a:p>
        </p:txBody>
      </p:sp>
      <p:sp>
        <p:nvSpPr>
          <p:cNvPr id="60" name="Text 57"/>
          <p:cNvSpPr/>
          <p:nvPr/>
        </p:nvSpPr>
        <p:spPr>
          <a:xfrm>
            <a:off x="457200" y="7260336"/>
            <a:ext cx="2743200" cy="228600"/>
          </a:xfrm>
          <a:prstGeom prst="rect">
            <a:avLst/>
          </a:prstGeom>
          <a:noFill/>
          <a:ln/>
        </p:spPr>
        <p:txBody>
          <a:bodyPr wrap="square" rtlCol="0" anchor="ctr"/>
          <a:lstStyle/>
          <a:p>
            <a:pPr indent="0" marL="0">
              <a:buNone/>
            </a:pPr>
            <a:r>
              <a:rPr lang="en-US" sz="800" b="1" spc="300" kern="0" dirty="0">
                <a:solidFill>
                  <a:srgbClr val="4A4A4A"/>
                </a:solidFill>
                <a:latin typeface="Calibri" pitchFamily="34" charset="0"/>
                <a:ea typeface="Calibri" pitchFamily="34" charset="-122"/>
                <a:cs typeface="Calibri" pitchFamily="34" charset="-120"/>
              </a:rPr>
              <a:t>CERTIFICATIONS</a:t>
            </a:r>
            <a:endParaRPr lang="en-US" sz="800" dirty="0"/>
          </a:p>
        </p:txBody>
      </p:sp>
      <p:sp>
        <p:nvSpPr>
          <p:cNvPr id="61" name="Text 58"/>
          <p:cNvSpPr/>
          <p:nvPr/>
        </p:nvSpPr>
        <p:spPr>
          <a:xfrm>
            <a:off x="457200" y="7488936"/>
            <a:ext cx="6647688" cy="27432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CompTIA Security+  ·  (ISC)² Certified in Cybersecurity  ·  NCSA Thailand Cybersecurity Professional  ·  ICT Mahidol Web App Pen-Testing</a:t>
            </a:r>
            <a:endParaRPr lang="en-US" sz="900" dirty="0"/>
          </a:p>
        </p:txBody>
      </p:sp>
      <p:sp>
        <p:nvSpPr>
          <p:cNvPr id="62" name="Text 59"/>
          <p:cNvSpPr/>
          <p:nvPr/>
        </p:nvSpPr>
        <p:spPr>
          <a:xfrm>
            <a:off x="457200" y="7900416"/>
            <a:ext cx="4572000" cy="274320"/>
          </a:xfrm>
          <a:prstGeom prst="rect">
            <a:avLst/>
          </a:prstGeom>
          <a:noFill/>
          <a:ln/>
        </p:spPr>
        <p:txBody>
          <a:bodyPr wrap="square" rtlCol="0" anchor="ctr"/>
          <a:lstStyle/>
          <a:p>
            <a:pPr indent="0" marL="0">
              <a:buNone/>
            </a:pPr>
            <a:r>
              <a:rPr lang="en-US" sz="1000" b="1" spc="500" kern="0" dirty="0">
                <a:solidFill>
                  <a:srgbClr val="3EDC81"/>
                </a:solidFill>
                <a:latin typeface="Calibri" pitchFamily="34" charset="0"/>
                <a:ea typeface="Calibri" pitchFamily="34" charset="-122"/>
                <a:cs typeface="Calibri" pitchFamily="34" charset="-120"/>
              </a:rPr>
              <a:t>TECHNOLOGIES</a:t>
            </a:r>
            <a:endParaRPr lang="en-US" sz="1000" dirty="0"/>
          </a:p>
        </p:txBody>
      </p:sp>
      <p:sp>
        <p:nvSpPr>
          <p:cNvPr id="63" name="Shape 60"/>
          <p:cNvSpPr/>
          <p:nvPr/>
        </p:nvSpPr>
        <p:spPr>
          <a:xfrm>
            <a:off x="457200" y="8266176"/>
            <a:ext cx="658368" cy="256032"/>
          </a:xfrm>
          <a:prstGeom prst="roundRect">
            <a:avLst>
              <a:gd name="adj" fmla="val 14286"/>
            </a:avLst>
          </a:prstGeom>
          <a:solidFill>
            <a:srgbClr val="1A1A1A"/>
          </a:solidFill>
          <a:ln w="6350">
            <a:solidFill>
              <a:srgbClr val="2A2A2A"/>
            </a:solidFill>
            <a:prstDash val="solid"/>
          </a:ln>
        </p:spPr>
      </p:sp>
      <p:sp>
        <p:nvSpPr>
          <p:cNvPr id="64" name="Text 61"/>
          <p:cNvSpPr/>
          <p:nvPr/>
        </p:nvSpPr>
        <p:spPr>
          <a:xfrm>
            <a:off x="457200" y="8266176"/>
            <a:ext cx="65836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Solidity</a:t>
            </a:r>
            <a:endParaRPr lang="en-US" sz="800" dirty="0"/>
          </a:p>
        </p:txBody>
      </p:sp>
      <p:sp>
        <p:nvSpPr>
          <p:cNvPr id="65" name="Shape 62"/>
          <p:cNvSpPr/>
          <p:nvPr/>
        </p:nvSpPr>
        <p:spPr>
          <a:xfrm>
            <a:off x="1188720" y="8266176"/>
            <a:ext cx="658368" cy="256032"/>
          </a:xfrm>
          <a:prstGeom prst="roundRect">
            <a:avLst>
              <a:gd name="adj" fmla="val 14286"/>
            </a:avLst>
          </a:prstGeom>
          <a:solidFill>
            <a:srgbClr val="1A1A1A"/>
          </a:solidFill>
          <a:ln w="6350">
            <a:solidFill>
              <a:srgbClr val="2A2A2A"/>
            </a:solidFill>
            <a:prstDash val="solid"/>
          </a:ln>
        </p:spPr>
      </p:sp>
      <p:sp>
        <p:nvSpPr>
          <p:cNvPr id="66" name="Text 63"/>
          <p:cNvSpPr/>
          <p:nvPr/>
        </p:nvSpPr>
        <p:spPr>
          <a:xfrm>
            <a:off x="1188720" y="8266176"/>
            <a:ext cx="65836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Ethereum</a:t>
            </a:r>
            <a:endParaRPr lang="en-US" sz="800" dirty="0"/>
          </a:p>
        </p:txBody>
      </p:sp>
      <p:sp>
        <p:nvSpPr>
          <p:cNvPr id="67" name="Shape 64"/>
          <p:cNvSpPr/>
          <p:nvPr/>
        </p:nvSpPr>
        <p:spPr>
          <a:xfrm>
            <a:off x="1920240" y="8266176"/>
            <a:ext cx="795528" cy="256032"/>
          </a:xfrm>
          <a:prstGeom prst="roundRect">
            <a:avLst>
              <a:gd name="adj" fmla="val 14286"/>
            </a:avLst>
          </a:prstGeom>
          <a:solidFill>
            <a:srgbClr val="1A1A1A"/>
          </a:solidFill>
          <a:ln w="6350">
            <a:solidFill>
              <a:srgbClr val="2A2A2A"/>
            </a:solidFill>
            <a:prstDash val="solid"/>
          </a:ln>
        </p:spPr>
      </p:sp>
      <p:sp>
        <p:nvSpPr>
          <p:cNvPr id="68" name="Text 65"/>
          <p:cNvSpPr/>
          <p:nvPr/>
        </p:nvSpPr>
        <p:spPr>
          <a:xfrm>
            <a:off x="1920240" y="8266176"/>
            <a:ext cx="79552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EVM Chains</a:t>
            </a:r>
            <a:endParaRPr lang="en-US" sz="800" dirty="0"/>
          </a:p>
        </p:txBody>
      </p:sp>
      <p:sp>
        <p:nvSpPr>
          <p:cNvPr id="69" name="Shape 66"/>
          <p:cNvSpPr/>
          <p:nvPr/>
        </p:nvSpPr>
        <p:spPr>
          <a:xfrm>
            <a:off x="2788920" y="8266176"/>
            <a:ext cx="932688" cy="256032"/>
          </a:xfrm>
          <a:prstGeom prst="roundRect">
            <a:avLst>
              <a:gd name="adj" fmla="val 14286"/>
            </a:avLst>
          </a:prstGeom>
          <a:solidFill>
            <a:srgbClr val="1A1A1A"/>
          </a:solidFill>
          <a:ln w="6350">
            <a:solidFill>
              <a:srgbClr val="2A2A2A"/>
            </a:solidFill>
            <a:prstDash val="solid"/>
          </a:ln>
        </p:spPr>
      </p:sp>
      <p:sp>
        <p:nvSpPr>
          <p:cNvPr id="70" name="Text 67"/>
          <p:cNvSpPr/>
          <p:nvPr/>
        </p:nvSpPr>
        <p:spPr>
          <a:xfrm>
            <a:off x="2788920" y="8266176"/>
            <a:ext cx="93268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Bitkub Chain</a:t>
            </a:r>
            <a:endParaRPr lang="en-US" sz="800" dirty="0"/>
          </a:p>
        </p:txBody>
      </p:sp>
      <p:sp>
        <p:nvSpPr>
          <p:cNvPr id="71" name="Shape 68"/>
          <p:cNvSpPr/>
          <p:nvPr/>
        </p:nvSpPr>
        <p:spPr>
          <a:xfrm>
            <a:off x="3794760" y="8266176"/>
            <a:ext cx="1138428" cy="256032"/>
          </a:xfrm>
          <a:prstGeom prst="roundRect">
            <a:avLst>
              <a:gd name="adj" fmla="val 14286"/>
            </a:avLst>
          </a:prstGeom>
          <a:solidFill>
            <a:srgbClr val="1A1A1A"/>
          </a:solidFill>
          <a:ln w="6350">
            <a:solidFill>
              <a:srgbClr val="2A2A2A"/>
            </a:solidFill>
            <a:prstDash val="solid"/>
          </a:ln>
        </p:spPr>
      </p:sp>
      <p:sp>
        <p:nvSpPr>
          <p:cNvPr id="72" name="Text 69"/>
          <p:cNvSpPr/>
          <p:nvPr/>
        </p:nvSpPr>
        <p:spPr>
          <a:xfrm>
            <a:off x="3794760" y="8266176"/>
            <a:ext cx="113842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Smart Contracts</a:t>
            </a:r>
            <a:endParaRPr lang="en-US" sz="800" dirty="0"/>
          </a:p>
        </p:txBody>
      </p:sp>
      <p:sp>
        <p:nvSpPr>
          <p:cNvPr id="73" name="Shape 70"/>
          <p:cNvSpPr/>
          <p:nvPr/>
        </p:nvSpPr>
        <p:spPr>
          <a:xfrm>
            <a:off x="5006340" y="8266176"/>
            <a:ext cx="384048" cy="256032"/>
          </a:xfrm>
          <a:prstGeom prst="roundRect">
            <a:avLst>
              <a:gd name="adj" fmla="val 14286"/>
            </a:avLst>
          </a:prstGeom>
          <a:solidFill>
            <a:srgbClr val="1A1A1A"/>
          </a:solidFill>
          <a:ln w="6350">
            <a:solidFill>
              <a:srgbClr val="2A2A2A"/>
            </a:solidFill>
            <a:prstDash val="solid"/>
          </a:ln>
        </p:spPr>
      </p:sp>
      <p:sp>
        <p:nvSpPr>
          <p:cNvPr id="74" name="Text 71"/>
          <p:cNvSpPr/>
          <p:nvPr/>
        </p:nvSpPr>
        <p:spPr>
          <a:xfrm>
            <a:off x="5006340" y="8266176"/>
            <a:ext cx="38404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IPFS</a:t>
            </a:r>
            <a:endParaRPr lang="en-US" sz="800" dirty="0"/>
          </a:p>
        </p:txBody>
      </p:sp>
      <p:sp>
        <p:nvSpPr>
          <p:cNvPr id="75" name="Shape 72"/>
          <p:cNvSpPr/>
          <p:nvPr/>
        </p:nvSpPr>
        <p:spPr>
          <a:xfrm>
            <a:off x="457200" y="8577072"/>
            <a:ext cx="589788" cy="256032"/>
          </a:xfrm>
          <a:prstGeom prst="roundRect">
            <a:avLst>
              <a:gd name="adj" fmla="val 14286"/>
            </a:avLst>
          </a:prstGeom>
          <a:solidFill>
            <a:srgbClr val="1A1A1A"/>
          </a:solidFill>
          <a:ln w="6350">
            <a:solidFill>
              <a:srgbClr val="2A2A2A"/>
            </a:solidFill>
            <a:prstDash val="solid"/>
          </a:ln>
        </p:spPr>
      </p:sp>
      <p:sp>
        <p:nvSpPr>
          <p:cNvPr id="76" name="Text 73"/>
          <p:cNvSpPr/>
          <p:nvPr/>
        </p:nvSpPr>
        <p:spPr>
          <a:xfrm>
            <a:off x="457200" y="8577072"/>
            <a:ext cx="58978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Node.js</a:t>
            </a:r>
            <a:endParaRPr lang="en-US" sz="800" dirty="0"/>
          </a:p>
        </p:txBody>
      </p:sp>
      <p:sp>
        <p:nvSpPr>
          <p:cNvPr id="77" name="Shape 74"/>
          <p:cNvSpPr/>
          <p:nvPr/>
        </p:nvSpPr>
        <p:spPr>
          <a:xfrm>
            <a:off x="1120140" y="8577072"/>
            <a:ext cx="521208" cy="256032"/>
          </a:xfrm>
          <a:prstGeom prst="roundRect">
            <a:avLst>
              <a:gd name="adj" fmla="val 14286"/>
            </a:avLst>
          </a:prstGeom>
          <a:solidFill>
            <a:srgbClr val="1A1A1A"/>
          </a:solidFill>
          <a:ln w="6350">
            <a:solidFill>
              <a:srgbClr val="2A2A2A"/>
            </a:solidFill>
            <a:prstDash val="solid"/>
          </a:ln>
        </p:spPr>
      </p:sp>
      <p:sp>
        <p:nvSpPr>
          <p:cNvPr id="78" name="Text 75"/>
          <p:cNvSpPr/>
          <p:nvPr/>
        </p:nvSpPr>
        <p:spPr>
          <a:xfrm>
            <a:off x="1120140" y="8577072"/>
            <a:ext cx="52120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Python</a:t>
            </a:r>
            <a:endParaRPr lang="en-US" sz="800" dirty="0"/>
          </a:p>
        </p:txBody>
      </p:sp>
      <p:sp>
        <p:nvSpPr>
          <p:cNvPr id="79" name="Shape 76"/>
          <p:cNvSpPr/>
          <p:nvPr/>
        </p:nvSpPr>
        <p:spPr>
          <a:xfrm>
            <a:off x="1714500" y="8577072"/>
            <a:ext cx="452628" cy="256032"/>
          </a:xfrm>
          <a:prstGeom prst="roundRect">
            <a:avLst>
              <a:gd name="adj" fmla="val 14286"/>
            </a:avLst>
          </a:prstGeom>
          <a:solidFill>
            <a:srgbClr val="1A1A1A"/>
          </a:solidFill>
          <a:ln w="6350">
            <a:solidFill>
              <a:srgbClr val="2A2A2A"/>
            </a:solidFill>
            <a:prstDash val="solid"/>
          </a:ln>
        </p:spPr>
      </p:sp>
      <p:sp>
        <p:nvSpPr>
          <p:cNvPr id="80" name="Text 77"/>
          <p:cNvSpPr/>
          <p:nvPr/>
        </p:nvSpPr>
        <p:spPr>
          <a:xfrm>
            <a:off x="1714500" y="8577072"/>
            <a:ext cx="45262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React</a:t>
            </a:r>
            <a:endParaRPr lang="en-US" sz="800" dirty="0"/>
          </a:p>
        </p:txBody>
      </p:sp>
      <p:sp>
        <p:nvSpPr>
          <p:cNvPr id="81" name="Shape 78"/>
          <p:cNvSpPr/>
          <p:nvPr/>
        </p:nvSpPr>
        <p:spPr>
          <a:xfrm>
            <a:off x="2240280" y="8577072"/>
            <a:ext cx="589788" cy="256032"/>
          </a:xfrm>
          <a:prstGeom prst="roundRect">
            <a:avLst>
              <a:gd name="adj" fmla="val 14286"/>
            </a:avLst>
          </a:prstGeom>
          <a:solidFill>
            <a:srgbClr val="1A1A1A"/>
          </a:solidFill>
          <a:ln w="6350">
            <a:solidFill>
              <a:srgbClr val="2A2A2A"/>
            </a:solidFill>
            <a:prstDash val="solid"/>
          </a:ln>
        </p:spPr>
      </p:sp>
      <p:sp>
        <p:nvSpPr>
          <p:cNvPr id="82" name="Text 79"/>
          <p:cNvSpPr/>
          <p:nvPr/>
        </p:nvSpPr>
        <p:spPr>
          <a:xfrm>
            <a:off x="2240280" y="8577072"/>
            <a:ext cx="58978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Next.js</a:t>
            </a:r>
            <a:endParaRPr lang="en-US" sz="800" dirty="0"/>
          </a:p>
        </p:txBody>
      </p:sp>
      <p:sp>
        <p:nvSpPr>
          <p:cNvPr id="83" name="Shape 80"/>
          <p:cNvSpPr/>
          <p:nvPr/>
        </p:nvSpPr>
        <p:spPr>
          <a:xfrm>
            <a:off x="2903220" y="8577072"/>
            <a:ext cx="795528" cy="256032"/>
          </a:xfrm>
          <a:prstGeom prst="roundRect">
            <a:avLst>
              <a:gd name="adj" fmla="val 14286"/>
            </a:avLst>
          </a:prstGeom>
          <a:solidFill>
            <a:srgbClr val="1A1A1A"/>
          </a:solidFill>
          <a:ln w="6350">
            <a:solidFill>
              <a:srgbClr val="2A2A2A"/>
            </a:solidFill>
            <a:prstDash val="solid"/>
          </a:ln>
        </p:spPr>
      </p:sp>
      <p:sp>
        <p:nvSpPr>
          <p:cNvPr id="84" name="Text 81"/>
          <p:cNvSpPr/>
          <p:nvPr/>
        </p:nvSpPr>
        <p:spPr>
          <a:xfrm>
            <a:off x="2903220" y="8577072"/>
            <a:ext cx="79552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TypeScript</a:t>
            </a:r>
            <a:endParaRPr lang="en-US" sz="800" dirty="0"/>
          </a:p>
        </p:txBody>
      </p:sp>
      <p:sp>
        <p:nvSpPr>
          <p:cNvPr id="85" name="Shape 82"/>
          <p:cNvSpPr/>
          <p:nvPr/>
        </p:nvSpPr>
        <p:spPr>
          <a:xfrm>
            <a:off x="3771900" y="8577072"/>
            <a:ext cx="589788" cy="256032"/>
          </a:xfrm>
          <a:prstGeom prst="roundRect">
            <a:avLst>
              <a:gd name="adj" fmla="val 14286"/>
            </a:avLst>
          </a:prstGeom>
          <a:solidFill>
            <a:srgbClr val="1A1A1A"/>
          </a:solidFill>
          <a:ln w="6350">
            <a:solidFill>
              <a:srgbClr val="2A2A2A"/>
            </a:solidFill>
            <a:prstDash val="solid"/>
          </a:ln>
        </p:spPr>
      </p:sp>
      <p:sp>
        <p:nvSpPr>
          <p:cNvPr id="86" name="Text 83"/>
          <p:cNvSpPr/>
          <p:nvPr/>
        </p:nvSpPr>
        <p:spPr>
          <a:xfrm>
            <a:off x="3771900" y="8577072"/>
            <a:ext cx="58978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Flutter</a:t>
            </a:r>
            <a:endParaRPr lang="en-US" sz="800" dirty="0"/>
          </a:p>
        </p:txBody>
      </p:sp>
      <p:sp>
        <p:nvSpPr>
          <p:cNvPr id="87" name="Shape 84"/>
          <p:cNvSpPr/>
          <p:nvPr/>
        </p:nvSpPr>
        <p:spPr>
          <a:xfrm>
            <a:off x="457200" y="8887968"/>
            <a:ext cx="726948" cy="256032"/>
          </a:xfrm>
          <a:prstGeom prst="roundRect">
            <a:avLst>
              <a:gd name="adj" fmla="val 14286"/>
            </a:avLst>
          </a:prstGeom>
          <a:solidFill>
            <a:srgbClr val="1A1A1A"/>
          </a:solidFill>
          <a:ln w="6350">
            <a:solidFill>
              <a:srgbClr val="2A2A2A"/>
            </a:solidFill>
            <a:prstDash val="solid"/>
          </a:ln>
        </p:spPr>
      </p:sp>
      <p:sp>
        <p:nvSpPr>
          <p:cNvPr id="88" name="Text 85"/>
          <p:cNvSpPr/>
          <p:nvPr/>
        </p:nvSpPr>
        <p:spPr>
          <a:xfrm>
            <a:off x="457200" y="8887968"/>
            <a:ext cx="72694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LangChain</a:t>
            </a:r>
            <a:endParaRPr lang="en-US" sz="800" dirty="0"/>
          </a:p>
        </p:txBody>
      </p:sp>
      <p:sp>
        <p:nvSpPr>
          <p:cNvPr id="89" name="Shape 86"/>
          <p:cNvSpPr/>
          <p:nvPr/>
        </p:nvSpPr>
        <p:spPr>
          <a:xfrm>
            <a:off x="1257300" y="8887968"/>
            <a:ext cx="795528" cy="256032"/>
          </a:xfrm>
          <a:prstGeom prst="roundRect">
            <a:avLst>
              <a:gd name="adj" fmla="val 14286"/>
            </a:avLst>
          </a:prstGeom>
          <a:solidFill>
            <a:srgbClr val="1A1A1A"/>
          </a:solidFill>
          <a:ln w="6350">
            <a:solidFill>
              <a:srgbClr val="2A2A2A"/>
            </a:solidFill>
            <a:prstDash val="solid"/>
          </a:ln>
        </p:spPr>
      </p:sp>
      <p:sp>
        <p:nvSpPr>
          <p:cNvPr id="90" name="Text 87"/>
          <p:cNvSpPr/>
          <p:nvPr/>
        </p:nvSpPr>
        <p:spPr>
          <a:xfrm>
            <a:off x="1257300" y="8887968"/>
            <a:ext cx="79552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OpenAI API</a:t>
            </a:r>
            <a:endParaRPr lang="en-US" sz="800" dirty="0"/>
          </a:p>
        </p:txBody>
      </p:sp>
      <p:sp>
        <p:nvSpPr>
          <p:cNvPr id="91" name="Shape 88"/>
          <p:cNvSpPr/>
          <p:nvPr/>
        </p:nvSpPr>
        <p:spPr>
          <a:xfrm>
            <a:off x="2125980" y="8887968"/>
            <a:ext cx="1138428" cy="256032"/>
          </a:xfrm>
          <a:prstGeom prst="roundRect">
            <a:avLst>
              <a:gd name="adj" fmla="val 14286"/>
            </a:avLst>
          </a:prstGeom>
          <a:solidFill>
            <a:srgbClr val="1A1A1A"/>
          </a:solidFill>
          <a:ln w="6350">
            <a:solidFill>
              <a:srgbClr val="2A2A2A"/>
            </a:solidFill>
            <a:prstDash val="solid"/>
          </a:ln>
        </p:spPr>
      </p:sp>
      <p:sp>
        <p:nvSpPr>
          <p:cNvPr id="92" name="Text 89"/>
          <p:cNvSpPr/>
          <p:nvPr/>
        </p:nvSpPr>
        <p:spPr>
          <a:xfrm>
            <a:off x="2125980" y="8887968"/>
            <a:ext cx="113842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Computer Vision</a:t>
            </a:r>
            <a:endParaRPr lang="en-US" sz="800" dirty="0"/>
          </a:p>
        </p:txBody>
      </p:sp>
      <p:sp>
        <p:nvSpPr>
          <p:cNvPr id="93" name="Shape 90"/>
          <p:cNvSpPr/>
          <p:nvPr/>
        </p:nvSpPr>
        <p:spPr>
          <a:xfrm>
            <a:off x="3337560" y="8887968"/>
            <a:ext cx="315468" cy="256032"/>
          </a:xfrm>
          <a:prstGeom prst="roundRect">
            <a:avLst>
              <a:gd name="adj" fmla="val 14286"/>
            </a:avLst>
          </a:prstGeom>
          <a:solidFill>
            <a:srgbClr val="1A1A1A"/>
          </a:solidFill>
          <a:ln w="6350">
            <a:solidFill>
              <a:srgbClr val="2A2A2A"/>
            </a:solidFill>
            <a:prstDash val="solid"/>
          </a:ln>
        </p:spPr>
      </p:sp>
      <p:sp>
        <p:nvSpPr>
          <p:cNvPr id="94" name="Text 91"/>
          <p:cNvSpPr/>
          <p:nvPr/>
        </p:nvSpPr>
        <p:spPr>
          <a:xfrm>
            <a:off x="3337560" y="8887968"/>
            <a:ext cx="31546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n8n</a:t>
            </a:r>
            <a:endParaRPr lang="en-US" sz="800" dirty="0"/>
          </a:p>
        </p:txBody>
      </p:sp>
      <p:sp>
        <p:nvSpPr>
          <p:cNvPr id="95" name="Shape 92"/>
          <p:cNvSpPr/>
          <p:nvPr/>
        </p:nvSpPr>
        <p:spPr>
          <a:xfrm>
            <a:off x="3726180" y="8887968"/>
            <a:ext cx="384048" cy="256032"/>
          </a:xfrm>
          <a:prstGeom prst="roundRect">
            <a:avLst>
              <a:gd name="adj" fmla="val 14286"/>
            </a:avLst>
          </a:prstGeom>
          <a:solidFill>
            <a:srgbClr val="1A1A1A"/>
          </a:solidFill>
          <a:ln w="6350">
            <a:solidFill>
              <a:srgbClr val="2A2A2A"/>
            </a:solidFill>
            <a:prstDash val="solid"/>
          </a:ln>
        </p:spPr>
      </p:sp>
      <p:sp>
        <p:nvSpPr>
          <p:cNvPr id="96" name="Text 93"/>
          <p:cNvSpPr/>
          <p:nvPr/>
        </p:nvSpPr>
        <p:spPr>
          <a:xfrm>
            <a:off x="3726180" y="8887968"/>
            <a:ext cx="38404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Make</a:t>
            </a:r>
            <a:endParaRPr lang="en-US" sz="800" dirty="0"/>
          </a:p>
        </p:txBody>
      </p:sp>
      <p:sp>
        <p:nvSpPr>
          <p:cNvPr id="97" name="Shape 94"/>
          <p:cNvSpPr/>
          <p:nvPr/>
        </p:nvSpPr>
        <p:spPr>
          <a:xfrm>
            <a:off x="4183380" y="8887968"/>
            <a:ext cx="521208" cy="256032"/>
          </a:xfrm>
          <a:prstGeom prst="roundRect">
            <a:avLst>
              <a:gd name="adj" fmla="val 14286"/>
            </a:avLst>
          </a:prstGeom>
          <a:solidFill>
            <a:srgbClr val="1A1A1A"/>
          </a:solidFill>
          <a:ln w="6350">
            <a:solidFill>
              <a:srgbClr val="2A2A2A"/>
            </a:solidFill>
            <a:prstDash val="solid"/>
          </a:ln>
        </p:spPr>
      </p:sp>
      <p:sp>
        <p:nvSpPr>
          <p:cNvPr id="98" name="Text 95"/>
          <p:cNvSpPr/>
          <p:nvPr/>
        </p:nvSpPr>
        <p:spPr>
          <a:xfrm>
            <a:off x="4183380" y="8887968"/>
            <a:ext cx="52120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Zapier</a:t>
            </a:r>
            <a:endParaRPr lang="en-US" sz="800" dirty="0"/>
          </a:p>
        </p:txBody>
      </p:sp>
      <p:sp>
        <p:nvSpPr>
          <p:cNvPr id="99" name="Shape 96"/>
          <p:cNvSpPr/>
          <p:nvPr/>
        </p:nvSpPr>
        <p:spPr>
          <a:xfrm>
            <a:off x="457200" y="9198864"/>
            <a:ext cx="795528" cy="256032"/>
          </a:xfrm>
          <a:prstGeom prst="roundRect">
            <a:avLst>
              <a:gd name="adj" fmla="val 14286"/>
            </a:avLst>
          </a:prstGeom>
          <a:solidFill>
            <a:srgbClr val="1A1A1A"/>
          </a:solidFill>
          <a:ln w="6350">
            <a:solidFill>
              <a:srgbClr val="2A2A2A"/>
            </a:solidFill>
            <a:prstDash val="solid"/>
          </a:ln>
        </p:spPr>
      </p:sp>
      <p:sp>
        <p:nvSpPr>
          <p:cNvPr id="100" name="Text 97"/>
          <p:cNvSpPr/>
          <p:nvPr/>
        </p:nvSpPr>
        <p:spPr>
          <a:xfrm>
            <a:off x="457200" y="9198864"/>
            <a:ext cx="79552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PostgreSQL</a:t>
            </a:r>
            <a:endParaRPr lang="en-US" sz="800" dirty="0"/>
          </a:p>
        </p:txBody>
      </p:sp>
      <p:sp>
        <p:nvSpPr>
          <p:cNvPr id="101" name="Shape 98"/>
          <p:cNvSpPr/>
          <p:nvPr/>
        </p:nvSpPr>
        <p:spPr>
          <a:xfrm>
            <a:off x="1325880" y="9198864"/>
            <a:ext cx="589788" cy="256032"/>
          </a:xfrm>
          <a:prstGeom prst="roundRect">
            <a:avLst>
              <a:gd name="adj" fmla="val 14286"/>
            </a:avLst>
          </a:prstGeom>
          <a:solidFill>
            <a:srgbClr val="1A1A1A"/>
          </a:solidFill>
          <a:ln w="6350">
            <a:solidFill>
              <a:srgbClr val="2A2A2A"/>
            </a:solidFill>
            <a:prstDash val="solid"/>
          </a:ln>
        </p:spPr>
      </p:sp>
      <p:sp>
        <p:nvSpPr>
          <p:cNvPr id="102" name="Text 99"/>
          <p:cNvSpPr/>
          <p:nvPr/>
        </p:nvSpPr>
        <p:spPr>
          <a:xfrm>
            <a:off x="1325880" y="9198864"/>
            <a:ext cx="58978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MongoDB</a:t>
            </a:r>
            <a:endParaRPr lang="en-US" sz="800" dirty="0"/>
          </a:p>
        </p:txBody>
      </p:sp>
      <p:sp>
        <p:nvSpPr>
          <p:cNvPr id="103" name="Shape 100"/>
          <p:cNvSpPr/>
          <p:nvPr/>
        </p:nvSpPr>
        <p:spPr>
          <a:xfrm>
            <a:off x="1988820" y="9198864"/>
            <a:ext cx="452628" cy="256032"/>
          </a:xfrm>
          <a:prstGeom prst="roundRect">
            <a:avLst>
              <a:gd name="adj" fmla="val 14286"/>
            </a:avLst>
          </a:prstGeom>
          <a:solidFill>
            <a:srgbClr val="1A1A1A"/>
          </a:solidFill>
          <a:ln w="6350">
            <a:solidFill>
              <a:srgbClr val="2A2A2A"/>
            </a:solidFill>
            <a:prstDash val="solid"/>
          </a:ln>
        </p:spPr>
      </p:sp>
      <p:sp>
        <p:nvSpPr>
          <p:cNvPr id="104" name="Text 101"/>
          <p:cNvSpPr/>
          <p:nvPr/>
        </p:nvSpPr>
        <p:spPr>
          <a:xfrm>
            <a:off x="1988820" y="9198864"/>
            <a:ext cx="45262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Redis</a:t>
            </a:r>
            <a:endParaRPr lang="en-US" sz="800" dirty="0"/>
          </a:p>
        </p:txBody>
      </p:sp>
      <p:sp>
        <p:nvSpPr>
          <p:cNvPr id="105" name="Shape 102"/>
          <p:cNvSpPr/>
          <p:nvPr/>
        </p:nvSpPr>
        <p:spPr>
          <a:xfrm>
            <a:off x="2514600" y="9198864"/>
            <a:ext cx="795528" cy="256032"/>
          </a:xfrm>
          <a:prstGeom prst="roundRect">
            <a:avLst>
              <a:gd name="adj" fmla="val 14286"/>
            </a:avLst>
          </a:prstGeom>
          <a:solidFill>
            <a:srgbClr val="1A1A1A"/>
          </a:solidFill>
          <a:ln w="6350">
            <a:solidFill>
              <a:srgbClr val="2A2A2A"/>
            </a:solidFill>
            <a:prstDash val="solid"/>
          </a:ln>
        </p:spPr>
      </p:sp>
      <p:sp>
        <p:nvSpPr>
          <p:cNvPr id="106" name="Text 103"/>
          <p:cNvSpPr/>
          <p:nvPr/>
        </p:nvSpPr>
        <p:spPr>
          <a:xfrm>
            <a:off x="2514600" y="9198864"/>
            <a:ext cx="79552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Kubernetes</a:t>
            </a:r>
            <a:endParaRPr lang="en-US" sz="800" dirty="0"/>
          </a:p>
        </p:txBody>
      </p:sp>
      <p:sp>
        <p:nvSpPr>
          <p:cNvPr id="107" name="Shape 104"/>
          <p:cNvSpPr/>
          <p:nvPr/>
        </p:nvSpPr>
        <p:spPr>
          <a:xfrm>
            <a:off x="3383280" y="9198864"/>
            <a:ext cx="521208" cy="256032"/>
          </a:xfrm>
          <a:prstGeom prst="roundRect">
            <a:avLst>
              <a:gd name="adj" fmla="val 14286"/>
            </a:avLst>
          </a:prstGeom>
          <a:solidFill>
            <a:srgbClr val="1A1A1A"/>
          </a:solidFill>
          <a:ln w="6350">
            <a:solidFill>
              <a:srgbClr val="2A2A2A"/>
            </a:solidFill>
            <a:prstDash val="solid"/>
          </a:ln>
        </p:spPr>
      </p:sp>
      <p:sp>
        <p:nvSpPr>
          <p:cNvPr id="108" name="Text 105"/>
          <p:cNvSpPr/>
          <p:nvPr/>
        </p:nvSpPr>
        <p:spPr>
          <a:xfrm>
            <a:off x="3383280" y="9198864"/>
            <a:ext cx="52120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Docker</a:t>
            </a:r>
            <a:endParaRPr lang="en-US" sz="800" dirty="0"/>
          </a:p>
        </p:txBody>
      </p:sp>
      <p:sp>
        <p:nvSpPr>
          <p:cNvPr id="109" name="Shape 106"/>
          <p:cNvSpPr/>
          <p:nvPr/>
        </p:nvSpPr>
        <p:spPr>
          <a:xfrm>
            <a:off x="3977640" y="9198864"/>
            <a:ext cx="315468" cy="256032"/>
          </a:xfrm>
          <a:prstGeom prst="roundRect">
            <a:avLst>
              <a:gd name="adj" fmla="val 14286"/>
            </a:avLst>
          </a:prstGeom>
          <a:solidFill>
            <a:srgbClr val="1A1A1A"/>
          </a:solidFill>
          <a:ln w="6350">
            <a:solidFill>
              <a:srgbClr val="2A2A2A"/>
            </a:solidFill>
            <a:prstDash val="solid"/>
          </a:ln>
        </p:spPr>
      </p:sp>
      <p:sp>
        <p:nvSpPr>
          <p:cNvPr id="110" name="Text 107"/>
          <p:cNvSpPr/>
          <p:nvPr/>
        </p:nvSpPr>
        <p:spPr>
          <a:xfrm>
            <a:off x="3977640" y="9198864"/>
            <a:ext cx="31546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AWS</a:t>
            </a:r>
            <a:endParaRPr lang="en-US" sz="800" dirty="0"/>
          </a:p>
        </p:txBody>
      </p:sp>
      <p:sp>
        <p:nvSpPr>
          <p:cNvPr id="111" name="Shape 108"/>
          <p:cNvSpPr/>
          <p:nvPr/>
        </p:nvSpPr>
        <p:spPr>
          <a:xfrm>
            <a:off x="4366260" y="9198864"/>
            <a:ext cx="726948" cy="256032"/>
          </a:xfrm>
          <a:prstGeom prst="roundRect">
            <a:avLst>
              <a:gd name="adj" fmla="val 14286"/>
            </a:avLst>
          </a:prstGeom>
          <a:solidFill>
            <a:srgbClr val="1A1A1A"/>
          </a:solidFill>
          <a:ln w="6350">
            <a:solidFill>
              <a:srgbClr val="2A2A2A"/>
            </a:solidFill>
            <a:prstDash val="solid"/>
          </a:ln>
        </p:spPr>
      </p:sp>
      <p:sp>
        <p:nvSpPr>
          <p:cNvPr id="112" name="Text 109"/>
          <p:cNvSpPr/>
          <p:nvPr/>
        </p:nvSpPr>
        <p:spPr>
          <a:xfrm>
            <a:off x="4366260" y="9198864"/>
            <a:ext cx="72694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LINE LIFF</a:t>
            </a:r>
            <a:endParaRPr lang="en-US" sz="800" dirty="0"/>
          </a:p>
        </p:txBody>
      </p:sp>
      <p:sp>
        <p:nvSpPr>
          <p:cNvPr id="113" name="Shape 110"/>
          <p:cNvSpPr/>
          <p:nvPr/>
        </p:nvSpPr>
        <p:spPr>
          <a:xfrm>
            <a:off x="5166360" y="9198864"/>
            <a:ext cx="658368" cy="256032"/>
          </a:xfrm>
          <a:prstGeom prst="roundRect">
            <a:avLst>
              <a:gd name="adj" fmla="val 14286"/>
            </a:avLst>
          </a:prstGeom>
          <a:solidFill>
            <a:srgbClr val="1A1A1A"/>
          </a:solidFill>
          <a:ln w="6350">
            <a:solidFill>
              <a:srgbClr val="2A2A2A"/>
            </a:solidFill>
            <a:prstDash val="solid"/>
          </a:ln>
        </p:spPr>
      </p:sp>
      <p:sp>
        <p:nvSpPr>
          <p:cNvPr id="114" name="Text 111"/>
          <p:cNvSpPr/>
          <p:nvPr/>
        </p:nvSpPr>
        <p:spPr>
          <a:xfrm>
            <a:off x="5166360" y="9198864"/>
            <a:ext cx="658368" cy="256032"/>
          </a:xfrm>
          <a:prstGeom prst="rect">
            <a:avLst/>
          </a:prstGeom>
          <a:noFill/>
          <a:ln/>
        </p:spPr>
        <p:txBody>
          <a:bodyPr wrap="square" lIns="0" tIns="0" rIns="0" bIns="0" rtlCol="0" anchor="ctr"/>
          <a:lstStyle/>
          <a:p>
            <a:pPr algn="ctr" indent="0" marL="0">
              <a:buNone/>
            </a:pPr>
            <a:r>
              <a:rPr lang="en-US" sz="800" dirty="0">
                <a:solidFill>
                  <a:srgbClr val="D1D5DB"/>
                </a:solidFill>
                <a:latin typeface="Calibri" pitchFamily="34" charset="0"/>
                <a:ea typeface="Calibri" pitchFamily="34" charset="-122"/>
                <a:cs typeface="Calibri" pitchFamily="34" charset="-120"/>
              </a:rPr>
              <a:t>Firebase</a:t>
            </a:r>
            <a:endParaRPr lang="en-US" sz="800" dirty="0"/>
          </a:p>
        </p:txBody>
      </p:sp>
      <p:sp>
        <p:nvSpPr>
          <p:cNvPr id="115" name="Shape 112"/>
          <p:cNvSpPr/>
          <p:nvPr/>
        </p:nvSpPr>
        <p:spPr>
          <a:xfrm>
            <a:off x="0" y="10049256"/>
            <a:ext cx="7562088" cy="36576"/>
          </a:xfrm>
          <a:prstGeom prst="rect">
            <a:avLst/>
          </a:prstGeom>
          <a:solidFill>
            <a:srgbClr val="3EDC81"/>
          </a:solidFill>
          <a:ln w="12700">
            <a:solidFill>
              <a:srgbClr val="333333"/>
            </a:solidFill>
            <a:prstDash val="solid"/>
          </a:ln>
        </p:spPr>
      </p:sp>
      <p:sp>
        <p:nvSpPr>
          <p:cNvPr id="116" name="Text 113"/>
          <p:cNvSpPr/>
          <p:nvPr/>
        </p:nvSpPr>
        <p:spPr>
          <a:xfrm>
            <a:off x="457200" y="10186416"/>
            <a:ext cx="4572000" cy="274320"/>
          </a:xfrm>
          <a:prstGeom prst="rect">
            <a:avLst/>
          </a:prstGeom>
          <a:noFill/>
          <a:ln/>
        </p:spPr>
        <p:txBody>
          <a:bodyPr wrap="square" rtlCol="0" anchor="ctr"/>
          <a:lstStyle/>
          <a:p>
            <a:pPr indent="0" marL="0">
              <a:buNone/>
            </a:pPr>
            <a:r>
              <a:rPr lang="en-US" sz="800" spc="400" kern="0" dirty="0">
                <a:solidFill>
                  <a:srgbClr val="4A4A4A"/>
                </a:solidFill>
                <a:latin typeface="Calibri" pitchFamily="34" charset="0"/>
                <a:ea typeface="Calibri" pitchFamily="34" charset="-122"/>
                <a:cs typeface="Calibri" pitchFamily="34" charset="-120"/>
              </a:rPr>
              <a:t>RAWINNIPA  /  COMPANY CV  /  V 1.0</a:t>
            </a:r>
            <a:endParaRPr lang="en-US" sz="800" dirty="0"/>
          </a:p>
        </p:txBody>
      </p:sp>
      <p:sp>
        <p:nvSpPr>
          <p:cNvPr id="117" name="Text 114"/>
          <p:cNvSpPr/>
          <p:nvPr/>
        </p:nvSpPr>
        <p:spPr>
          <a:xfrm>
            <a:off x="6190488" y="10186416"/>
            <a:ext cx="914400" cy="274320"/>
          </a:xfrm>
          <a:prstGeom prst="rect">
            <a:avLst/>
          </a:prstGeom>
          <a:noFill/>
          <a:ln/>
        </p:spPr>
        <p:txBody>
          <a:bodyPr wrap="square" rtlCol="0" anchor="ctr"/>
          <a:lstStyle/>
          <a:p>
            <a:pPr algn="r" indent="0" marL="0">
              <a:buNone/>
            </a:pPr>
            <a:r>
              <a:rPr lang="en-US" sz="800" b="1" dirty="0">
                <a:solidFill>
                  <a:srgbClr val="3EDC81"/>
                </a:solidFill>
                <a:latin typeface="Calibri" pitchFamily="34" charset="0"/>
                <a:ea typeface="Calibri" pitchFamily="34" charset="-122"/>
                <a:cs typeface="Calibri" pitchFamily="34" charset="-120"/>
              </a:rPr>
              <a:t>2 / 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Rawinnipa — Company CV</dc:title>
  <dc:subject>PptxGenJS Presentation</dc:subject>
  <dc:creator>Rawinnipa Software and Consultants</dc:creator>
  <cp:lastModifiedBy>Rawinnipa Software and Consultants</cp:lastModifiedBy>
  <cp:revision>1</cp:revision>
  <dcterms:created xsi:type="dcterms:W3CDTF">2026-04-19T10:52:30Z</dcterms:created>
  <dcterms:modified xsi:type="dcterms:W3CDTF">2026-04-19T10:52:30Z</dcterms:modified>
</cp:coreProperties>
</file>