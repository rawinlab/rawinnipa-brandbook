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jpg"/><Relationship Id="rId3" Type="http://schemas.openxmlformats.org/officeDocument/2006/relationships/image" Target="../media/image-4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jpg"/><Relationship Id="rId3" Type="http://schemas.openxmlformats.org/officeDocument/2006/relationships/image" Target="../media/image-5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jpg"/><Relationship Id="rId3" Type="http://schemas.openxmlformats.org/officeDocument/2006/relationships/image" Target="../media/image-6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jpg"/><Relationship Id="rId3" Type="http://schemas.openxmlformats.org/officeDocument/2006/relationships/image" Target="../media/image-7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image" Target="../media/image-12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75120"/>
            <a:ext cx="4023259" cy="182880"/>
          </a:xfrm>
          <a:prstGeom prst="rect">
            <a:avLst/>
          </a:prstGeom>
          <a:solidFill>
            <a:srgbClr val="23B591"/>
          </a:solidFill>
          <a:ln w="12700">
            <a:solidFill>
              <a:srgbClr val="23B59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023259" y="6675120"/>
            <a:ext cx="4145176" cy="182880"/>
          </a:xfrm>
          <a:prstGeom prst="rect">
            <a:avLst/>
          </a:prstGeom>
          <a:solidFill>
            <a:srgbClr val="3EDC81"/>
          </a:solidFill>
          <a:ln w="12700">
            <a:solidFill>
              <a:srgbClr val="3EDC8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68436" y="6675120"/>
            <a:ext cx="4023259" cy="182880"/>
          </a:xfrm>
          <a:prstGeom prst="rect">
            <a:avLst/>
          </a:prstGeom>
          <a:solidFill>
            <a:srgbClr val="9DC351"/>
          </a:solidFill>
          <a:ln w="12700">
            <a:solidFill>
              <a:srgbClr val="9DC351"/>
            </a:solidFill>
            <a:prstDash val="solid"/>
          </a:ln>
        </p:spPr>
      </p:sp>
      <p:pic>
        <p:nvPicPr>
          <p:cNvPr id="5" name="Image 0" descr="/sessions/zealous-bold-davinci/mnt/brand-book/02-logo/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502920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5943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RAWINNIPA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02920" y="219456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Uniform Design</a:t>
            </a:r>
            <a:endParaRPr lang="en-US" sz="6000" dirty="0"/>
          </a:p>
        </p:txBody>
      </p:sp>
      <p:sp>
        <p:nvSpPr>
          <p:cNvPr id="8" name="Text 5"/>
          <p:cNvSpPr/>
          <p:nvPr/>
        </p:nvSpPr>
        <p:spPr>
          <a:xfrm>
            <a:off x="502920" y="32004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concepts for polo &amp; crew-neck tee.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>
            <a:off x="502920" y="4206240"/>
            <a:ext cx="731520" cy="411480"/>
          </a:xfrm>
          <a:prstGeom prst="roundRect">
            <a:avLst>
              <a:gd name="adj" fmla="val 17778"/>
            </a:avLst>
          </a:prstGeom>
          <a:solidFill>
            <a:srgbClr val="202020"/>
          </a:solidFill>
          <a:ln w="6350">
            <a:solidFill>
              <a:srgbClr val="40404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02920" y="420624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Polo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1371600" y="4206240"/>
            <a:ext cx="1207008" cy="411480"/>
          </a:xfrm>
          <a:prstGeom prst="roundRect">
            <a:avLst>
              <a:gd name="adj" fmla="val 17778"/>
            </a:avLst>
          </a:prstGeom>
          <a:solidFill>
            <a:srgbClr val="202020"/>
          </a:solidFill>
          <a:ln w="6350">
            <a:solidFill>
              <a:srgbClr val="40404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371600" y="4206240"/>
            <a:ext cx="1207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Crew Tee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2715768" y="4206240"/>
            <a:ext cx="1207008" cy="411480"/>
          </a:xfrm>
          <a:prstGeom prst="roundRect">
            <a:avLst>
              <a:gd name="adj" fmla="val 17778"/>
            </a:avLst>
          </a:prstGeom>
          <a:solidFill>
            <a:srgbClr val="202020"/>
          </a:solidFill>
          <a:ln w="6350">
            <a:solidFill>
              <a:srgbClr val="40404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715768" y="4206240"/>
            <a:ext cx="1207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Colors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059936" y="4206240"/>
            <a:ext cx="1444752" cy="411480"/>
          </a:xfrm>
          <a:prstGeom prst="roundRect">
            <a:avLst>
              <a:gd name="adj" fmla="val 17778"/>
            </a:avLst>
          </a:prstGeom>
          <a:solidFill>
            <a:srgbClr val="202020"/>
          </a:solidFill>
          <a:ln w="6350">
            <a:solidFill>
              <a:srgbClr val="40404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059936" y="4206240"/>
            <a:ext cx="14447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Concepts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641848" y="4206240"/>
            <a:ext cx="1444752" cy="411480"/>
          </a:xfrm>
          <a:prstGeom prst="roundRect">
            <a:avLst>
              <a:gd name="adj" fmla="val 17778"/>
            </a:avLst>
          </a:prstGeom>
          <a:solidFill>
            <a:srgbClr val="202020"/>
          </a:solidFill>
          <a:ln w="6350">
            <a:solidFill>
              <a:srgbClr val="40404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641848" y="4206240"/>
            <a:ext cx="14447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 Mockups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502920" y="5943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ED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what moves.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7162495" y="5989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Rawinnipa Co., Ltd.  ·  April 2026  ·  v1.0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refresh the uniform?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02920" y="1097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Turning our brand into something people wear.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02920" y="2103120"/>
            <a:ext cx="3611880" cy="3840480"/>
          </a:xfrm>
          <a:prstGeom prst="rect">
            <a:avLst/>
          </a:prstGeom>
          <a:solidFill>
            <a:srgbClr val="F7F7F7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2103120"/>
            <a:ext cx="73152" cy="3840480"/>
          </a:xfrm>
          <a:prstGeom prst="rect">
            <a:avLst/>
          </a:prstGeom>
          <a:solidFill>
            <a:srgbClr val="23B591"/>
          </a:solidFill>
          <a:ln w="12700">
            <a:solidFill>
              <a:srgbClr val="23B59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37744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23B5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868680" y="338328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Consistent presence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68680" y="3931920"/>
            <a:ext cx="3063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the team shows up at an event, client meeting, or office — the uniform tells one story. No accidental off-brand moments.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89120" y="2103120"/>
            <a:ext cx="3611880" cy="3840480"/>
          </a:xfrm>
          <a:prstGeom prst="rect">
            <a:avLst/>
          </a:prstGeom>
          <a:solidFill>
            <a:srgbClr val="F7F7F7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89120" y="2103120"/>
            <a:ext cx="73152" cy="3840480"/>
          </a:xfrm>
          <a:prstGeom prst="rect">
            <a:avLst/>
          </a:prstGeom>
          <a:solidFill>
            <a:srgbClr val="3EDC81"/>
          </a:solidFill>
          <a:ln w="12700">
            <a:solidFill>
              <a:srgbClr val="3EDC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237744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3ED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4754880" y="338328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Earned, not loud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754880" y="3931920"/>
            <a:ext cx="3063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days, one small mark. On stage or at trade shows, the big-back logo does the work. Every concept dials in how loud the brand should be.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275320" y="2103120"/>
            <a:ext cx="3611880" cy="3840480"/>
          </a:xfrm>
          <a:prstGeom prst="rect">
            <a:avLst/>
          </a:prstGeom>
          <a:solidFill>
            <a:srgbClr val="F7F7F7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75320" y="2103120"/>
            <a:ext cx="73152" cy="3840480"/>
          </a:xfrm>
          <a:prstGeom prst="rect">
            <a:avLst/>
          </a:prstGeom>
          <a:solidFill>
            <a:srgbClr val="9DC351"/>
          </a:solidFill>
          <a:ln w="12700">
            <a:solidFill>
              <a:srgbClr val="9DC35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41080" y="237744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9DC3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4800" dirty="0"/>
          </a:p>
        </p:txBody>
      </p:sp>
      <p:sp>
        <p:nvSpPr>
          <p:cNvPr id="17" name="Text 15"/>
          <p:cNvSpPr/>
          <p:nvPr/>
        </p:nvSpPr>
        <p:spPr>
          <a:xfrm>
            <a:off x="8641080" y="338328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to last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641080" y="3931920"/>
            <a:ext cx="3063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Embroidery-first approach, combed cotton, proper GSM. Built for 50+ washes — because a fading logo is a bad brand moment.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292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WHAT MOVES.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77437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38912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Rawinnipa Uniform Deck  ·  v1.0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a glance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02920" y="1097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concepts. Two garments. Four colors. Sixty-four finished mockups.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02920" y="2194560"/>
            <a:ext cx="2743200" cy="2011680"/>
          </a:xfrm>
          <a:prstGeom prst="rect">
            <a:avLst/>
          </a:prstGeom>
          <a:solidFill>
            <a:srgbClr val="141414"/>
          </a:solidFill>
          <a:ln w="6350">
            <a:solidFill>
              <a:srgbClr val="2020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42316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3ED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502920" y="36576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CONCEPTS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83280" y="2194560"/>
            <a:ext cx="2743200" cy="2011680"/>
          </a:xfrm>
          <a:prstGeom prst="rect">
            <a:avLst/>
          </a:prstGeom>
          <a:solidFill>
            <a:srgbClr val="141414"/>
          </a:solidFill>
          <a:ln w="6350">
            <a:solidFill>
              <a:srgbClr val="20202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0" y="242316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3ED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7200" dirty="0"/>
          </a:p>
        </p:txBody>
      </p:sp>
      <p:sp>
        <p:nvSpPr>
          <p:cNvPr id="9" name="Text 7"/>
          <p:cNvSpPr/>
          <p:nvPr/>
        </p:nvSpPr>
        <p:spPr>
          <a:xfrm>
            <a:off x="3383280" y="36576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GARMENT TYPES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63640" y="2194560"/>
            <a:ext cx="2743200" cy="2011680"/>
          </a:xfrm>
          <a:prstGeom prst="rect">
            <a:avLst/>
          </a:prstGeom>
          <a:solidFill>
            <a:srgbClr val="141414"/>
          </a:solidFill>
          <a:ln w="6350">
            <a:solidFill>
              <a:srgbClr val="20202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63640" y="242316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3ED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7200" dirty="0"/>
          </a:p>
        </p:txBody>
      </p:sp>
      <p:sp>
        <p:nvSpPr>
          <p:cNvPr id="12" name="Text 10"/>
          <p:cNvSpPr/>
          <p:nvPr/>
        </p:nvSpPr>
        <p:spPr>
          <a:xfrm>
            <a:off x="6263640" y="36576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SHIRT COLORS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144000" y="2194560"/>
            <a:ext cx="2743200" cy="2011680"/>
          </a:xfrm>
          <a:prstGeom prst="rect">
            <a:avLst/>
          </a:prstGeom>
          <a:solidFill>
            <a:srgbClr val="141414"/>
          </a:solidFill>
          <a:ln w="6350">
            <a:solidFill>
              <a:srgbClr val="20202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0" y="242316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3ED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</a:t>
            </a:r>
            <a:endParaRPr lang="en-US" sz="7200" dirty="0"/>
          </a:p>
        </p:txBody>
      </p:sp>
      <p:sp>
        <p:nvSpPr>
          <p:cNvPr id="15" name="Text 13"/>
          <p:cNvSpPr/>
          <p:nvPr/>
        </p:nvSpPr>
        <p:spPr>
          <a:xfrm>
            <a:off x="9144000" y="36576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MOCKUPS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4572000"/>
            <a:ext cx="10972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Classic 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chest logo + sleeve URL + inner-neck tagline.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Bold Back 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chest logo + large embroidered back logo + tagline.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Gradient 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signature 3-color stripe on the shoulder + hem tagline.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Typography 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full RAWINNIPA wordmark on chest + stacked back slogan.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0292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3ED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WHAT MOVES.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77437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38912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Rawinnipa Uniform Deck  ·  v1.0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— Classic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02920" y="10972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everyday uniform. Small chest logo, URL on sleeve, tagline at the inner neck.</a:t>
            </a:r>
            <a:endParaRPr lang="en-US" sz="1600" dirty="0"/>
          </a:p>
        </p:txBody>
      </p:sp>
      <p:pic>
        <p:nvPicPr>
          <p:cNvPr id="4" name="Image 0" descr="/sessions/zealous-bold-davinci/uniform_work/pptx_assets/hero_classic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2103120"/>
            <a:ext cx="3840480" cy="3840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0" y="21031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3B5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POLO</a:t>
            </a:r>
            <a:endParaRPr lang="en-US" sz="1100" dirty="0"/>
          </a:p>
        </p:txBody>
      </p:sp>
      <p:pic>
        <p:nvPicPr>
          <p:cNvPr id="6" name="Image 1" descr="/sessions/zealous-bold-davinci/uniform_work/pptx_assets/01-classic_polo_GRID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572000" y="2377440"/>
            <a:ext cx="7132320" cy="17373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572000" y="4206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3B5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TEE</a:t>
            </a:r>
            <a:endParaRPr lang="en-US" sz="1100" dirty="0"/>
          </a:p>
        </p:txBody>
      </p:sp>
      <p:pic>
        <p:nvPicPr>
          <p:cNvPr id="8" name="Image 2" descr="/sessions/zealous-bold-davinci/uniform_work/pptx_assets/01-classic_tee_GRID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572000" y="4480560"/>
            <a:ext cx="7132320" cy="173736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0292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3ED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WHAT MOVES.</a:t>
            </a:r>
            <a:endParaRPr lang="en-US" sz="900" dirty="0"/>
          </a:p>
        </p:txBody>
      </p:sp>
      <p:sp>
        <p:nvSpPr>
          <p:cNvPr id="10" name="Text 5"/>
          <p:cNvSpPr/>
          <p:nvPr/>
        </p:nvSpPr>
        <p:spPr>
          <a:xfrm>
            <a:off x="1077437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13</a:t>
            </a:r>
            <a:endParaRPr lang="en-US" sz="900" dirty="0"/>
          </a:p>
        </p:txBody>
      </p:sp>
      <p:sp>
        <p:nvSpPr>
          <p:cNvPr id="11" name="Text 6"/>
          <p:cNvSpPr/>
          <p:nvPr/>
        </p:nvSpPr>
        <p:spPr>
          <a:xfrm>
            <a:off x="438912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Rawinnipa Uniform Deck  ·  v1.0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— Bold Back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02920" y="10972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the days visibility matters. Small front mark, large embroidered logo on the back, tagline beneath.</a:t>
            </a:r>
            <a:endParaRPr lang="en-US" sz="1600" dirty="0"/>
          </a:p>
        </p:txBody>
      </p:sp>
      <p:pic>
        <p:nvPicPr>
          <p:cNvPr id="4" name="Image 0" descr="/sessions/zealous-bold-davinci/uniform_work/pptx_assets/hero_boldback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2103120"/>
            <a:ext cx="3840480" cy="3840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0" y="21031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3ED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POLO</a:t>
            </a:r>
            <a:endParaRPr lang="en-US" sz="1100" dirty="0"/>
          </a:p>
        </p:txBody>
      </p:sp>
      <p:pic>
        <p:nvPicPr>
          <p:cNvPr id="6" name="Image 1" descr="/sessions/zealous-bold-davinci/uniform_work/pptx_assets/02-bold-back_polo_GRID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572000" y="2377440"/>
            <a:ext cx="7132320" cy="17373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572000" y="4206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3ED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TEE</a:t>
            </a:r>
            <a:endParaRPr lang="en-US" sz="1100" dirty="0"/>
          </a:p>
        </p:txBody>
      </p:sp>
      <p:pic>
        <p:nvPicPr>
          <p:cNvPr id="8" name="Image 2" descr="/sessions/zealous-bold-davinci/uniform_work/pptx_assets/02-bold-back_tee_GRID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572000" y="4480560"/>
            <a:ext cx="7132320" cy="173736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0292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3ED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WHAT MOVES.</a:t>
            </a:r>
            <a:endParaRPr lang="en-US" sz="900" dirty="0"/>
          </a:p>
        </p:txBody>
      </p:sp>
      <p:sp>
        <p:nvSpPr>
          <p:cNvPr id="10" name="Text 5"/>
          <p:cNvSpPr/>
          <p:nvPr/>
        </p:nvSpPr>
        <p:spPr>
          <a:xfrm>
            <a:off x="1077437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13</a:t>
            </a:r>
            <a:endParaRPr lang="en-US" sz="900" dirty="0"/>
          </a:p>
        </p:txBody>
      </p:sp>
      <p:sp>
        <p:nvSpPr>
          <p:cNvPr id="11" name="Text 6"/>
          <p:cNvSpPr/>
          <p:nvPr/>
        </p:nvSpPr>
        <p:spPr>
          <a:xfrm>
            <a:off x="438912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Rawinnipa Uniform Deck  ·  v1.0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— Gradient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02920" y="10972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brand signature. Three-color gradient across the shoulder — teal → green → lime — plus hem tagline.</a:t>
            </a:r>
            <a:endParaRPr lang="en-US" sz="1600" dirty="0"/>
          </a:p>
        </p:txBody>
      </p:sp>
      <p:pic>
        <p:nvPicPr>
          <p:cNvPr id="4" name="Image 0" descr="/sessions/zealous-bold-davinci/uniform_work/pptx_assets/hero_gradient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2103120"/>
            <a:ext cx="3840480" cy="3840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0" y="21031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9DC3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POLO</a:t>
            </a:r>
            <a:endParaRPr lang="en-US" sz="1100" dirty="0"/>
          </a:p>
        </p:txBody>
      </p:sp>
      <p:pic>
        <p:nvPicPr>
          <p:cNvPr id="6" name="Image 1" descr="/sessions/zealous-bold-davinci/uniform_work/pptx_assets/03-gradient_polo_GRID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572000" y="2377440"/>
            <a:ext cx="7132320" cy="17373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572000" y="4206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9DC3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TEE</a:t>
            </a:r>
            <a:endParaRPr lang="en-US" sz="1100" dirty="0"/>
          </a:p>
        </p:txBody>
      </p:sp>
      <p:pic>
        <p:nvPicPr>
          <p:cNvPr id="8" name="Image 2" descr="/sessions/zealous-bold-davinci/uniform_work/pptx_assets/03-gradient_tee_GRID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572000" y="4480560"/>
            <a:ext cx="7132320" cy="173736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0292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3ED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WHAT MOVES.</a:t>
            </a:r>
            <a:endParaRPr lang="en-US" sz="900" dirty="0"/>
          </a:p>
        </p:txBody>
      </p:sp>
      <p:sp>
        <p:nvSpPr>
          <p:cNvPr id="10" name="Text 5"/>
          <p:cNvSpPr/>
          <p:nvPr/>
        </p:nvSpPr>
        <p:spPr>
          <a:xfrm>
            <a:off x="1077437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13</a:t>
            </a:r>
            <a:endParaRPr lang="en-US" sz="900" dirty="0"/>
          </a:p>
        </p:txBody>
      </p:sp>
      <p:sp>
        <p:nvSpPr>
          <p:cNvPr id="11" name="Text 6"/>
          <p:cNvSpPr/>
          <p:nvPr/>
        </p:nvSpPr>
        <p:spPr>
          <a:xfrm>
            <a:off x="438912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Rawinnipa Uniform Deck  ·  v1.0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— Typography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02920" y="10972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confident statement piece. Big RAWINNIPA wordmark on chest + stacked BUILD / WHAT / MOVES. on the back.</a:t>
            </a:r>
            <a:endParaRPr lang="en-US" sz="1600" dirty="0"/>
          </a:p>
        </p:txBody>
      </p:sp>
      <p:pic>
        <p:nvPicPr>
          <p:cNvPr id="4" name="Image 0" descr="/sessions/zealous-bold-davinci/uniform_work/pptx_assets/hero_typography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2103120"/>
            <a:ext cx="3840480" cy="3840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0" y="21031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3ED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POLO</a:t>
            </a:r>
            <a:endParaRPr lang="en-US" sz="1100" dirty="0"/>
          </a:p>
        </p:txBody>
      </p:sp>
      <p:pic>
        <p:nvPicPr>
          <p:cNvPr id="6" name="Image 1" descr="/sessions/zealous-bold-davinci/uniform_work/pptx_assets/04-typography_polo_GRID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572000" y="2377440"/>
            <a:ext cx="7132320" cy="17373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572000" y="4206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3ED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TEE</a:t>
            </a:r>
            <a:endParaRPr lang="en-US" sz="1100" dirty="0"/>
          </a:p>
        </p:txBody>
      </p:sp>
      <p:pic>
        <p:nvPicPr>
          <p:cNvPr id="8" name="Image 2" descr="/sessions/zealous-bold-davinci/uniform_work/pptx_assets/04-typography_tee_GRID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572000" y="4480560"/>
            <a:ext cx="7132320" cy="173736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0292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3ED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WHAT MOVES.</a:t>
            </a:r>
            <a:endParaRPr lang="en-US" sz="900" dirty="0"/>
          </a:p>
        </p:txBody>
      </p:sp>
      <p:sp>
        <p:nvSpPr>
          <p:cNvPr id="10" name="Text 5"/>
          <p:cNvSpPr/>
          <p:nvPr/>
        </p:nvSpPr>
        <p:spPr>
          <a:xfrm>
            <a:off x="1077437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13</a:t>
            </a:r>
            <a:endParaRPr lang="en-US" sz="900" dirty="0"/>
          </a:p>
        </p:txBody>
      </p:sp>
      <p:sp>
        <p:nvSpPr>
          <p:cNvPr id="11" name="Text 6"/>
          <p:cNvSpPr/>
          <p:nvPr/>
        </p:nvSpPr>
        <p:spPr>
          <a:xfrm>
            <a:off x="438912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Rawinnipa Uniform Deck  ·  v1.0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02920" y="1097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approved shirt colors. Ink follows a strict matrix — never green-on-green.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2920" y="1920240"/>
            <a:ext cx="2651760" cy="265176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34747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Black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38404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#0A0A0A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41148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Pantone Black 6 C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37560" y="1920240"/>
            <a:ext cx="2651760" cy="265176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66160" y="34747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Charcoal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566160" y="38404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#1A1A1A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566160" y="41148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Pantone Black 7 C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72200" y="1920240"/>
            <a:ext cx="2651760" cy="2651760"/>
          </a:xfrm>
          <a:prstGeom prst="rect">
            <a:avLst/>
          </a:prstGeom>
          <a:solidFill>
            <a:srgbClr val="F7F7F7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0" y="34747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 White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00800" y="38404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#F7F7F7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0" y="41148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Pantone 11-0601 TCX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006840" y="1920240"/>
            <a:ext cx="2651760" cy="2651760"/>
          </a:xfrm>
          <a:prstGeom prst="rect">
            <a:avLst/>
          </a:prstGeom>
          <a:solidFill>
            <a:srgbClr val="3EDC81"/>
          </a:solidFill>
          <a:ln w="12700">
            <a:solidFill>
              <a:srgbClr val="3EDC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235440" y="34747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Rawin Green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235440" y="38404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#3EDC81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235440" y="41148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Pantone 2256 C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2920" y="4892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Ink rules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02920" y="534924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Dark shirts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02920" y="5669280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 logo + white text + green accent.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297680" y="534924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 White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297680" y="5669280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 logo + black text + green accent.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092440" y="534924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Rawin Green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092440" y="5669280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 logo + white text — no green-on-green.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0292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WHAT MOVES.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77437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13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38912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Rawinnipa Uniform Deck  ·  v1.0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concept across the palette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02920" y="1097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Classic polo — Deep Black, Charcoal, Off White, Rawin Green.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02920" y="1783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3ED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</a:t>
            </a:r>
            <a:endParaRPr lang="en-US" sz="1100" dirty="0"/>
          </a:p>
        </p:txBody>
      </p:sp>
      <p:pic>
        <p:nvPicPr>
          <p:cNvPr id="5" name="Image 0" descr="/sessions/zealous-bold-davinci/uniform_work/pptx_assets/palette_row_front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2011680"/>
            <a:ext cx="11247120" cy="21031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4251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3ED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</a:t>
            </a:r>
            <a:endParaRPr lang="en-US" sz="1100" dirty="0"/>
          </a:p>
        </p:txBody>
      </p:sp>
      <p:pic>
        <p:nvPicPr>
          <p:cNvPr id="7" name="Image 1" descr="/sessions/zealous-bold-davinci/uniform_work/pptx_assets/palette_row_back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02920" y="4480560"/>
            <a:ext cx="11247120" cy="19202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0292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3ED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WHAT MOVES.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1077437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13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438912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Rawinnipa Uniform Deck  ·  v1.0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Construction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02920" y="1097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 specs. Everything else lives in the spec sheet.</a:t>
            </a:r>
            <a:endParaRPr lang="en-US" sz="1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737360"/>
          <a:ext cx="1115568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206240"/>
                <a:gridCol w="42062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Polo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Crew-neck Tee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A0A0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Fabric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Cotton 65% / Poly 35% piqué, 200–220 GSM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Combed cotton 100%, jersey, 180–200 GSM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A0A0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Collar / neck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Self-fabric 2×2 rib, flat-bed knit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Self-fabric 1×1 rib, 2.0 cm band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A0A0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Placket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3-button, reinforced, 18 cm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A0A0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Sleeves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Short, self-banded hem 3.5 cm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Short, double-needle hem 3.0 cm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A0A0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Stitching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Single + 3-needle coverstitch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Single + double-needle coverstitch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A0A0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Sizes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XS – 3XL (unisex)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XS – 3XL (unisex)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A0A0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Shrinkage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Max 3% / 3% after wash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Max 4% / 4% after wash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A0A0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Weight (L)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210 g ±10 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180 g ±10 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WHAT MOVES.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077437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13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38912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Rawinnipa Uniform Deck  ·  v1.0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Decoration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02920" y="1097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methods. Matched to the element, not the cheapest option.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2920" y="2103120"/>
            <a:ext cx="5623560" cy="2057400"/>
          </a:xfrm>
          <a:prstGeom prst="rect">
            <a:avLst/>
          </a:prstGeom>
          <a:solidFill>
            <a:srgbClr val="141414"/>
          </a:solidFill>
          <a:ln w="6350">
            <a:solidFill>
              <a:srgbClr val="2020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228600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B5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691640" y="2377440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Embroidery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691640" y="2788920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3B5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Used for: Chest &amp; back logos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3200400"/>
            <a:ext cx="5074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Polyester thread, stitch density 4.0–4.4 pt, medium cut-away stabilizer. Max 9,000 stitches chest / 22,000 back.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309360" y="2103120"/>
            <a:ext cx="5623560" cy="2057400"/>
          </a:xfrm>
          <a:prstGeom prst="rect">
            <a:avLst/>
          </a:prstGeom>
          <a:solidFill>
            <a:srgbClr val="141414"/>
          </a:solidFill>
          <a:ln w="6350">
            <a:solidFill>
              <a:srgbClr val="20202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0" y="228600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ED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7498080" y="2377440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print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498080" y="2788920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ED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Used for: Text, taglines, wordmark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583680" y="3200400"/>
            <a:ext cx="5074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Plastisol + soft-hand additive. Mesh 305 for fine type, 156 for solid blocks. Cure 160°C / 90 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4343400"/>
            <a:ext cx="5623560" cy="2057400"/>
          </a:xfrm>
          <a:prstGeom prst="rect">
            <a:avLst/>
          </a:prstGeom>
          <a:solidFill>
            <a:srgbClr val="141414"/>
          </a:solidFill>
          <a:ln w="6350">
            <a:solidFill>
              <a:srgbClr val="20202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452628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9DC3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1691640" y="4617720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Sublimation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691640" y="5029200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C3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Used for: Gradient stripe (polo only)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77240" y="5440680"/>
            <a:ext cx="5074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Polyester-blend only. Full-color gradient reproduction, no cracking, matches Pantone references in §2 of spec.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309360" y="4343400"/>
            <a:ext cx="5623560" cy="2057400"/>
          </a:xfrm>
          <a:prstGeom prst="rect">
            <a:avLst/>
          </a:prstGeom>
          <a:solidFill>
            <a:srgbClr val="141414"/>
          </a:solidFill>
          <a:ln w="6350">
            <a:solidFill>
              <a:srgbClr val="20202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0" y="452628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7498080" y="4617720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Heat-transfer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498080" y="5029200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Used for: Inner-neck tagline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583680" y="5440680"/>
            <a:ext cx="5074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 µm matte stretch film. 160°C / 15 s / medium pressure. Peel hot. Used only for the inner-neck tag.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292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3ED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WHAT MOVES.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77437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13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38912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Rawinnipa Uniform Deck  ·  v1.0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02920" y="1097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two. Wear both. Rotate by occasion.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2920" y="1920240"/>
            <a:ext cx="5623560" cy="4206240"/>
          </a:xfrm>
          <a:prstGeom prst="rect">
            <a:avLst/>
          </a:prstGeom>
          <a:solidFill>
            <a:srgbClr val="F7F7F7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920240"/>
            <a:ext cx="73152" cy="4206240"/>
          </a:xfrm>
          <a:prstGeom prst="rect">
            <a:avLst/>
          </a:prstGeom>
          <a:solidFill>
            <a:srgbClr val="3EDC81"/>
          </a:solidFill>
          <a:ln w="12700">
            <a:solidFill>
              <a:srgbClr val="3EDC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148840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3ED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EVERYDAY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2514600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Classic — Polo — Deep Black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77240" y="3108960"/>
            <a:ext cx="5074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default uniform. Subtle, professional, works anywhere. Chest logo does the identity work; the rest disappears into the cut.</a:t>
            </a:r>
            <a:endParaRPr lang="en-US" sz="1200" dirty="0"/>
          </a:p>
        </p:txBody>
      </p:sp>
      <p:pic>
        <p:nvPicPr>
          <p:cNvPr id="9" name="Image 0" descr="/sessions/zealous-bold-davinci/uniform_work/pptx_assets/01-classic_polo_GRID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7240" y="4251960"/>
            <a:ext cx="5074920" cy="169164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309360" y="1920240"/>
            <a:ext cx="5623560" cy="4206240"/>
          </a:xfrm>
          <a:prstGeom prst="rect">
            <a:avLst/>
          </a:prstGeom>
          <a:solidFill>
            <a:srgbClr val="F7F7F7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309360" y="1920240"/>
            <a:ext cx="73152" cy="4206240"/>
          </a:xfrm>
          <a:prstGeom prst="rect">
            <a:avLst/>
          </a:prstGeom>
          <a:solidFill>
            <a:srgbClr val="9DC351"/>
          </a:solidFill>
          <a:ln w="12700">
            <a:solidFill>
              <a:srgbClr val="9DC35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583680" y="2148840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9DC3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STATEMENT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583680" y="2514600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Gradient — Tee — Deep Black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6583680" y="3108960"/>
            <a:ext cx="5074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launches, events, and brand moments. The 3-color shoulder stripe is unmistakably Rawinnipa and photographs brilliantly on stage.</a:t>
            </a:r>
            <a:endParaRPr lang="en-US" sz="1200" dirty="0"/>
          </a:p>
        </p:txBody>
      </p:sp>
      <p:pic>
        <p:nvPicPr>
          <p:cNvPr id="15" name="Image 1" descr="/sessions/zealous-bold-davinci/uniform_work/pptx_assets/03-gradient_tee_GRID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583680" y="4251960"/>
            <a:ext cx="5074920" cy="169164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0292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WHAT MOVES.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1077437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13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438912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Rawinnipa Uniform Deck  ·  v1.0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zealous-bold-davinci/mnt/brand-book/02-logo/logo_gre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40080"/>
            <a:ext cx="731520" cy="7315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16459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</a:t>
            </a:r>
            <a:endParaRPr lang="en-US" sz="4800" dirty="0"/>
          </a:p>
        </p:txBody>
      </p:sp>
      <p:sp>
        <p:nvSpPr>
          <p:cNvPr id="4" name="Shape 1"/>
          <p:cNvSpPr/>
          <p:nvPr/>
        </p:nvSpPr>
        <p:spPr>
          <a:xfrm>
            <a:off x="502920" y="2926080"/>
            <a:ext cx="3657600" cy="2560320"/>
          </a:xfrm>
          <a:prstGeom prst="rect">
            <a:avLst/>
          </a:prstGeom>
          <a:solidFill>
            <a:srgbClr val="141414"/>
          </a:solidFill>
          <a:ln w="6350">
            <a:solidFill>
              <a:srgbClr val="20202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22960" y="3154680"/>
            <a:ext cx="914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3ED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7200" dirty="0"/>
          </a:p>
        </p:txBody>
      </p:sp>
      <p:sp>
        <p:nvSpPr>
          <p:cNvPr id="6" name="Text 3"/>
          <p:cNvSpPr/>
          <p:nvPr/>
        </p:nvSpPr>
        <p:spPr>
          <a:xfrm>
            <a:off x="1828800" y="33375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ED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1–7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1828800" y="37033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 concepts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22960" y="443484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final 1–2 concepts and colorways. Signs-off via the spec sheet approval block.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297680" y="2926080"/>
            <a:ext cx="3657600" cy="2560320"/>
          </a:xfrm>
          <a:prstGeom prst="rect">
            <a:avLst/>
          </a:prstGeom>
          <a:solidFill>
            <a:srgbClr val="141414"/>
          </a:solidFill>
          <a:ln w="6350">
            <a:solidFill>
              <a:srgbClr val="20202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617720" y="3154680"/>
            <a:ext cx="914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3ED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7200" dirty="0"/>
          </a:p>
        </p:txBody>
      </p:sp>
      <p:sp>
        <p:nvSpPr>
          <p:cNvPr id="11" name="Text 8"/>
          <p:cNvSpPr/>
          <p:nvPr/>
        </p:nvSpPr>
        <p:spPr>
          <a:xfrm>
            <a:off x="5623560" y="33375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ED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8–21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623560" y="37033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Pre-production samples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4617720" y="443484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 delivers 1 sample per concept × garment × color. QA per §10 of the spec.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8092440" y="2926080"/>
            <a:ext cx="3657600" cy="2560320"/>
          </a:xfrm>
          <a:prstGeom prst="rect">
            <a:avLst/>
          </a:prstGeom>
          <a:solidFill>
            <a:srgbClr val="141414"/>
          </a:solidFill>
          <a:ln w="6350">
            <a:solidFill>
              <a:srgbClr val="20202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412480" y="3154680"/>
            <a:ext cx="914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3ED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7200" dirty="0"/>
          </a:p>
        </p:txBody>
      </p:sp>
      <p:sp>
        <p:nvSpPr>
          <p:cNvPr id="16" name="Text 13"/>
          <p:cNvSpPr/>
          <p:nvPr/>
        </p:nvSpPr>
        <p:spPr>
          <a:xfrm>
            <a:off x="9418320" y="33375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ED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22–45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9418320" y="37033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Bulk production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8412480" y="443484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Green-light bulk run after sample approval. 50 pcs per master carton per size.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502920" y="56692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or approvals: </a:t>
            </a:r>
            <a:pPr indent="0" marL="0">
              <a:buNone/>
            </a:pPr>
            <a:r>
              <a:rPr lang="en-US" sz="1400" b="1" dirty="0">
                <a:solidFill>
                  <a:srgbClr val="3ED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sayhi@rawinsoft.com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50292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3ED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WHAT MOVES.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077437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13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438912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Rawinnipa Uniform Deck  ·  v1.0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Rawinnipa Uniform Design Deck</dc:title>
  <dc:subject>Polo &amp; Crew-neck Tee — 4 concepts</dc:subject>
  <dc:creator>Rawinnipa</dc:creator>
  <cp:lastModifiedBy>Rawinnipa</cp:lastModifiedBy>
  <cp:revision>1</cp:revision>
  <dcterms:created xsi:type="dcterms:W3CDTF">2026-04-19T13:27:48Z</dcterms:created>
  <dcterms:modified xsi:type="dcterms:W3CDTF">2026-04-19T13:27:48Z</dcterms:modified>
</cp:coreProperties>
</file>