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2.png"/><Relationship Id="rId4" Type="http://schemas.openxmlformats.org/officeDocument/2006/relationships/image" Target="../media/image-15-2.png"/><Relationship Id="rId5" Type="http://schemas.openxmlformats.org/officeDocument/2006/relationships/image" Target="../media/image-15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3B5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274320" cy="2286000"/>
          </a:xfrm>
          <a:prstGeom prst="rect">
            <a:avLst/>
          </a:prstGeom>
          <a:solidFill>
            <a:srgbClr val="3ED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00"/>
            <a:ext cx="274320" cy="2286000"/>
          </a:xfrm>
          <a:prstGeom prst="rect">
            <a:avLst/>
          </a:prstGeom>
          <a:solidFill>
            <a:srgbClr val="9DC3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76895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/  VERSION 1.0</a:t>
            </a:r>
            <a:endParaRPr lang="en-US" sz="1000" dirty="0"/>
          </a:p>
        </p:txBody>
      </p:sp>
      <p:pic>
        <p:nvPicPr>
          <p:cNvPr id="6" name="Image 0" descr="/home/claude/brand_ci/assets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0312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Identity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2926080" y="2834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292608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Rawinnipa  —  Software and Consultants Company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 April 2026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448495" y="6126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rawinsoft.com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INTRODUCTION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document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our visual identity.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6858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guidelines define how the Rawinnipa brand shows up in the world — from the logo on a pitch deck to the color of a button in our products. Follow them to keep our identity consistent, recognizable, and aligned with who we are: a software and consulting team building the systems that move businesses forward.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0" y="1280160"/>
            <a:ext cx="3383280" cy="4480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1554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GUIDE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03920" y="2103120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Introduction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Brand Foundation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Logo System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Color Palette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Typography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Visual Style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Brand Voice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Applications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RAWINNIPA  /  BRAND IDENTITY GUIDELINES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BRAND FOUNDATION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exist.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73152" cy="3474720"/>
          </a:xfrm>
          <a:prstGeom prst="rect">
            <a:avLst/>
          </a:prstGeom>
          <a:solidFill>
            <a:srgbClr val="3ED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50292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lead the way in building a business world connected by digital fluency and advanced technology — where productivity and competitiveness are shared outcomes, and every partnership creates lasting value.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0" y="2194560"/>
            <a:ext cx="73152" cy="3474720"/>
          </a:xfrm>
          <a:prstGeom prst="rect">
            <a:avLst/>
          </a:prstGeom>
          <a:solidFill>
            <a:srgbClr val="9DC3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DC3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50292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help our partners grow and adapt to the digital age — freely and efficiently — using software and modern technology as the engines of transformation. We build trust through quality delivery and stay close to our partners as they succeed.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RAWINNIPA  /  BRAND IDENTITY GUIDELINES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BRAND FOUNDATION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show up.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personality traits shape every interaction — from a client email to a product landing page.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0868" y="2468880"/>
            <a:ext cx="2606040" cy="32918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0868" y="2468880"/>
            <a:ext cx="2606040" cy="73152"/>
          </a:xfrm>
          <a:prstGeom prst="rect">
            <a:avLst/>
          </a:prstGeom>
          <a:solidFill>
            <a:srgbClr val="3ED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9468" y="27432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69468" y="35661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9468" y="406908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at the edge — AI, blockchain, automation — and bring those capabilities to real businesses.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75508" y="2468880"/>
            <a:ext cx="2606040" cy="32918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75508" y="2468880"/>
            <a:ext cx="2606040" cy="73152"/>
          </a:xfrm>
          <a:prstGeom prst="rect">
            <a:avLst/>
          </a:prstGeom>
          <a:solidFill>
            <a:srgbClr val="3ED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4108" y="27432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604108" y="35661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DEPENDABLE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04108" y="406908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years of delivery. We ship systems that stay running long after launch day.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0148" y="2468880"/>
            <a:ext cx="2606040" cy="32918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0148" y="2468880"/>
            <a:ext cx="2606040" cy="73152"/>
          </a:xfrm>
          <a:prstGeom prst="rect">
            <a:avLst/>
          </a:prstGeom>
          <a:solidFill>
            <a:srgbClr val="3ED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8748" y="27432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438748" y="35661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38748" y="406908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Partners, not vendors. We treat our clients' wins as our own and invest in long-term success.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44788" y="2468880"/>
            <a:ext cx="2606040" cy="32918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44788" y="2468880"/>
            <a:ext cx="2606040" cy="73152"/>
          </a:xfrm>
          <a:prstGeom prst="rect">
            <a:avLst/>
          </a:prstGeom>
          <a:solidFill>
            <a:srgbClr val="3ED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3388" y="27432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9273388" y="35661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273388" y="406908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technology, simple delivery. We strip out jargon so decisions can actually get made.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RAWINNIPA  /  BRAND IDENTITY GUIDELINES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LOGO 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enclosed monogram — R and W fused inside a continuous circle — the mark reads as unity, momentum, and connection.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6858000" cy="3474720"/>
          </a:xfrm>
          <a:prstGeom prst="rect">
            <a:avLst/>
          </a:prstGeom>
          <a:solidFill>
            <a:srgbClr val="000000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6" name="Image 0" descr="/home/claude/brand_ci/assets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2834640"/>
            <a:ext cx="2926080" cy="2926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5715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 /  FULL COLOR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CIRCLE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0" y="29260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and completeness — an unbroken loop that holds everything together.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MONOGRAM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72400" y="41148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letters, one path — R and W share strokes, suggesting interconnection and forward motion.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0" y="5029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772400" y="53035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to lime — the spectrum of growth, freshness, and technological vitality.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RAWINNIPA  /  BRAND IDENTITY GUIDELINES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LOGO 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approved treatments. Pick the one with the highest contrast against your background.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0868" y="2423160"/>
            <a:ext cx="2606040" cy="320040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6" name="Image 0" descr="/home/claude/brand_ci/assets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928" y="2880360"/>
            <a:ext cx="1645920" cy="1645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0868" y="57150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0868" y="59893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Full-color gradient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75508" y="2423160"/>
            <a:ext cx="2606040" cy="320040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10" name="Image 1" descr="/home/claude/brand_ci/assets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5568" y="2880360"/>
            <a:ext cx="1645920" cy="1645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75508" y="57150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REVERSED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375508" y="59893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on dark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210148" y="2423160"/>
            <a:ext cx="2606040" cy="3200400"/>
          </a:xfrm>
          <a:prstGeom prst="rect">
            <a:avLst/>
          </a:prstGeom>
          <a:solidFill>
            <a:srgbClr val="F7F7F7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14" name="Image 2" descr="/home/claude/brand_ci/assets/logo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208" y="2880360"/>
            <a:ext cx="1645920" cy="1645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10148" y="57150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GREEN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210148" y="59893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Single-color accent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044788" y="2423160"/>
            <a:ext cx="2606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18" name="Image 3" descr="/home/claude/brand_ci/assets/logo_bla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4848" y="2880360"/>
            <a:ext cx="1645920" cy="1645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44788" y="57150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MONOCHROME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9044788" y="59893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on light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RAWINNIPA  /  BRAND IDENTITY GUIDELINES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LOGO 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space &amp; scale.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mark room to breathe. Keep a minimum buffer equal to 'X' — one-quarter of the logo's height — on every side.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943600" cy="36576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6" name="Image 0" descr="/home/claude/brand_ci/assets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6040" y="3474720"/>
            <a:ext cx="1828800" cy="1828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148840" y="3017520"/>
            <a:ext cx="2743200" cy="0"/>
          </a:xfrm>
          <a:prstGeom prst="line">
            <a:avLst/>
          </a:prstGeom>
          <a:noFill/>
          <a:ln w="12700">
            <a:solidFill>
              <a:srgbClr val="3EDC81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2148840" y="5760720"/>
            <a:ext cx="2743200" cy="0"/>
          </a:xfrm>
          <a:prstGeom prst="line">
            <a:avLst/>
          </a:prstGeom>
          <a:noFill/>
          <a:ln w="12700">
            <a:solidFill>
              <a:srgbClr val="3EDC81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2148840" y="3017520"/>
            <a:ext cx="0" cy="2743200"/>
          </a:xfrm>
          <a:prstGeom prst="line">
            <a:avLst/>
          </a:prstGeom>
          <a:noFill/>
          <a:ln w="12700">
            <a:solidFill>
              <a:srgbClr val="3EDC81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4892040" y="3017520"/>
            <a:ext cx="0" cy="2743200"/>
          </a:xfrm>
          <a:prstGeom prst="line">
            <a:avLst/>
          </a:prstGeom>
          <a:noFill/>
          <a:ln w="12700">
            <a:solidFill>
              <a:srgbClr val="3EDC81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3383280" y="2651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383280" y="5852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783080" y="4251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83480" y="4251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7240" y="5760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SPACE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858000" y="2560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SIZE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858000" y="28803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display the logo smaller than these thresholds — below this, legibility breaks down.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858000" y="3657600"/>
            <a:ext cx="4754880" cy="20116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19" name="Image 1" descr="/home/claude/brand_ci/assets/logo_col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3931920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858000" y="44805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px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858000" y="47091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800" dirty="0"/>
          </a:p>
        </p:txBody>
      </p:sp>
      <p:pic>
        <p:nvPicPr>
          <p:cNvPr id="22" name="Image 2" descr="/home/claude/brand_ci/assets/logo_col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3840480"/>
            <a:ext cx="640080" cy="6400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001000" y="455371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px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8001000" y="478231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800" dirty="0"/>
          </a:p>
        </p:txBody>
      </p:sp>
      <p:pic>
        <p:nvPicPr>
          <p:cNvPr id="25" name="Image 3" descr="/home/claude/brand_ci/assets/logo_col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3749040"/>
            <a:ext cx="914400" cy="9144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418320" y="478231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mm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9418320" y="501091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MIN.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RAWINNIPA  /  BRAND IDENTITY GUIDELINES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LOGO 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mark. These six misuses distort what the logo is trying to say.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448" y="2331720"/>
            <a:ext cx="3566160" cy="17830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6" name="Image 0" descr="/home/claude/brand_ci/assets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5288" y="2651760"/>
            <a:ext cx="155448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09848" y="2404872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09848" y="2404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9448" y="3749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stretch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12768" y="2331720"/>
            <a:ext cx="3566160" cy="17830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11" name="Image 1" descr="/home/claude/brand_ci/assets/logo_bl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648" y="2532888"/>
            <a:ext cx="914400" cy="9144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513168" y="2404872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13168" y="2404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312768" y="3749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recolor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16088" y="2331720"/>
            <a:ext cx="3566160" cy="17830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16" name="Image 2" descr="/home/claude/brand_ci/assets/logo_col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500000">
            <a:off x="9341968" y="2532888"/>
            <a:ext cx="914400" cy="9144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1216488" y="2404872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1216488" y="2404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016088" y="3749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rotate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09448" y="4389120"/>
            <a:ext cx="3566160" cy="17830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21" name="Image 3" descr="/home/claude/brand_ci/assets/logo_color.png">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1935328" y="4590288"/>
            <a:ext cx="914400" cy="91440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3809848" y="4462272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809848" y="4462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09448" y="5806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add effects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12768" y="4389120"/>
            <a:ext cx="3566160" cy="17830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26" name="Image 4" descr="/home/claude/brand_ci/assets/logo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648" y="4590288"/>
            <a:ext cx="914400" cy="91440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7513168" y="4462272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7513168" y="4462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312768" y="5806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outline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016088" y="4389120"/>
            <a:ext cx="3566160" cy="1783080"/>
          </a:xfrm>
          <a:prstGeom prst="rect">
            <a:avLst/>
          </a:prstGeom>
          <a:solidFill>
            <a:srgbClr val="2A3A2A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31" name="Image 5" descr="/home/claude/brand_ci/assets/logo_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1968" y="4590288"/>
            <a:ext cx="914400" cy="914400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11216488" y="4462272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11216488" y="4462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8016088" y="5806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low-contrast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RAWINNIPA  /  BRAND IDENTITY GUIDELINES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COLOR PALETTE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colors.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green spectrum for growth and technology, anchored by deep black for authority.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8008" y="2468880"/>
            <a:ext cx="3200400" cy="3108960"/>
          </a:xfrm>
          <a:prstGeom prst="rect">
            <a:avLst/>
          </a:prstGeom>
          <a:solidFill>
            <a:srgbClr val="3EDC81"/>
          </a:solidFill>
          <a:ln w="12700">
            <a:solidFill>
              <a:srgbClr val="3EDC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6608" y="2697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6608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RAWIN GREEN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6608" y="4434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#3EDC81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46608" y="4892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62, 220, 129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CMYK 72, 0, 41, 14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7481 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55568" y="2468880"/>
            <a:ext cx="2514600" cy="3108960"/>
          </a:xfrm>
          <a:prstGeom prst="rect">
            <a:avLst/>
          </a:prstGeom>
          <a:solidFill>
            <a:srgbClr val="23B591"/>
          </a:solidFill>
          <a:ln w="12700">
            <a:solidFill>
              <a:srgbClr val="23B59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84168" y="40233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TEAL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84168" y="44348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#23B591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084168" y="48920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35, 181, 145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CMYK 81, 0, 20, 29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3395 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07328" y="2468880"/>
            <a:ext cx="2514600" cy="3108960"/>
          </a:xfrm>
          <a:prstGeom prst="rect">
            <a:avLst/>
          </a:prstGeom>
          <a:solidFill>
            <a:srgbClr val="9DC351"/>
          </a:solidFill>
          <a:ln w="12700">
            <a:solidFill>
              <a:srgbClr val="9DC3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35928" y="40233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ACCENT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35928" y="44348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#9DC351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735928" y="48920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157, 195, 81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CMYK 19, 0, 58, 24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2296 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159088" y="2468880"/>
            <a:ext cx="2514600" cy="310896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87688" y="40233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BLACK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87688" y="44348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#0A0A0A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387688" y="48920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10, 10, 10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CMYK 0, 0, 0, 96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Black 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RAWINNIPA  /  BRAND IDENTITY GUIDELINES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COLOR PALETTE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Neutrals &amp; signature gradient.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 ground the palette for text and UI surfaces. The gradient is reserved for hero moments.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6588" y="2560320"/>
            <a:ext cx="1783080" cy="1645920"/>
          </a:xfrm>
          <a:prstGeom prst="rect">
            <a:avLst/>
          </a:prstGeom>
          <a:solidFill>
            <a:srgbClr val="1A1A1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748" y="26974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CHARCOAL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23748" y="384048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#1A1A1A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33676" y="2560320"/>
            <a:ext cx="1783080" cy="1645920"/>
          </a:xfrm>
          <a:prstGeom prst="rect">
            <a:avLst/>
          </a:prstGeom>
          <a:solidFill>
            <a:srgbClr val="2A2A2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70836" y="26974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70836" y="384048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#2A2A2A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80764" y="2560320"/>
            <a:ext cx="1783080" cy="164592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17924" y="26974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GRAY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17924" y="384048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#4A4A4A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7852" y="2560320"/>
            <a:ext cx="1783080" cy="164592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5012" y="26974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65012" y="384048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#9CA3AF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74940" y="2560320"/>
            <a:ext cx="1783080" cy="1645920"/>
          </a:xfrm>
          <a:prstGeom prst="rect">
            <a:avLst/>
          </a:prstGeom>
          <a:solidFill>
            <a:srgbClr val="D1D5D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12100" y="26974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112100" y="384048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#D1D5DB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822028" y="2560320"/>
            <a:ext cx="1783080" cy="1645920"/>
          </a:xfrm>
          <a:prstGeom prst="rect">
            <a:avLst/>
          </a:prstGeom>
          <a:solidFill>
            <a:srgbClr val="F7F7F7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59188" y="26974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WHITE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959188" y="384048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#F7F7F7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5720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GRADIENT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937760"/>
            <a:ext cx="285750" cy="914400"/>
          </a:xfrm>
          <a:prstGeom prst="rect">
            <a:avLst/>
          </a:prstGeom>
          <a:solidFill>
            <a:srgbClr val="23B5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5246" y="4937760"/>
            <a:ext cx="285750" cy="914400"/>
          </a:xfrm>
          <a:prstGeom prst="rect">
            <a:avLst/>
          </a:prstGeom>
          <a:solidFill>
            <a:srgbClr val="24B7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1852" y="4937760"/>
            <a:ext cx="285750" cy="914400"/>
          </a:xfrm>
          <a:prstGeom prst="rect">
            <a:avLst/>
          </a:prstGeom>
          <a:solidFill>
            <a:srgbClr val="26B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8458" y="4937760"/>
            <a:ext cx="285750" cy="914400"/>
          </a:xfrm>
          <a:prstGeom prst="rect">
            <a:avLst/>
          </a:prstGeom>
          <a:solidFill>
            <a:srgbClr val="27B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55064" y="4937760"/>
            <a:ext cx="285750" cy="914400"/>
          </a:xfrm>
          <a:prstGeom prst="rect">
            <a:avLst/>
          </a:prstGeom>
          <a:solidFill>
            <a:srgbClr val="29BD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31670" y="4937760"/>
            <a:ext cx="285750" cy="914400"/>
          </a:xfrm>
          <a:prstGeom prst="rect">
            <a:avLst/>
          </a:prstGeom>
          <a:solidFill>
            <a:srgbClr val="2ABF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08276" y="4937760"/>
            <a:ext cx="285750" cy="914400"/>
          </a:xfrm>
          <a:prstGeom prst="rect">
            <a:avLst/>
          </a:prstGeom>
          <a:solidFill>
            <a:srgbClr val="2BC1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84882" y="4937760"/>
            <a:ext cx="285750" cy="914400"/>
          </a:xfrm>
          <a:prstGeom prst="rect">
            <a:avLst/>
          </a:prstGeom>
          <a:solidFill>
            <a:srgbClr val="2DC3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61488" y="4937760"/>
            <a:ext cx="285750" cy="914400"/>
          </a:xfrm>
          <a:prstGeom prst="rect">
            <a:avLst/>
          </a:prstGeom>
          <a:solidFill>
            <a:srgbClr val="2EC5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38094" y="4937760"/>
            <a:ext cx="285750" cy="914400"/>
          </a:xfrm>
          <a:prstGeom prst="rect">
            <a:avLst/>
          </a:prstGeom>
          <a:solidFill>
            <a:srgbClr val="2FC7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14700" y="4937760"/>
            <a:ext cx="285750" cy="914400"/>
          </a:xfrm>
          <a:prstGeom prst="rect">
            <a:avLst/>
          </a:prstGeom>
          <a:solidFill>
            <a:srgbClr val="31C9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91306" y="4937760"/>
            <a:ext cx="285750" cy="914400"/>
          </a:xfrm>
          <a:prstGeom prst="rect">
            <a:avLst/>
          </a:prstGeom>
          <a:solidFill>
            <a:srgbClr val="32CB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67912" y="4937760"/>
            <a:ext cx="285750" cy="914400"/>
          </a:xfrm>
          <a:prstGeom prst="rect">
            <a:avLst/>
          </a:prstGeom>
          <a:solidFill>
            <a:srgbClr val="34CD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44518" y="4937760"/>
            <a:ext cx="285750" cy="914400"/>
          </a:xfrm>
          <a:prstGeom prst="rect">
            <a:avLst/>
          </a:prstGeom>
          <a:solidFill>
            <a:srgbClr val="35CF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21124" y="4937760"/>
            <a:ext cx="285750" cy="914400"/>
          </a:xfrm>
          <a:prstGeom prst="rect">
            <a:avLst/>
          </a:prstGeom>
          <a:solidFill>
            <a:srgbClr val="36D1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97730" y="4937760"/>
            <a:ext cx="285750" cy="914400"/>
          </a:xfrm>
          <a:prstGeom prst="rect">
            <a:avLst/>
          </a:prstGeom>
          <a:solidFill>
            <a:srgbClr val="38D3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74336" y="4937760"/>
            <a:ext cx="285750" cy="914400"/>
          </a:xfrm>
          <a:prstGeom prst="rect">
            <a:avLst/>
          </a:prstGeom>
          <a:solidFill>
            <a:srgbClr val="39D5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50942" y="4937760"/>
            <a:ext cx="285750" cy="914400"/>
          </a:xfrm>
          <a:prstGeom prst="rect">
            <a:avLst/>
          </a:prstGeom>
          <a:solidFill>
            <a:srgbClr val="3BD7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527548" y="4937760"/>
            <a:ext cx="285750" cy="914400"/>
          </a:xfrm>
          <a:prstGeom prst="rect">
            <a:avLst/>
          </a:prstGeom>
          <a:solidFill>
            <a:srgbClr val="3CD9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04154" y="4937760"/>
            <a:ext cx="285750" cy="914400"/>
          </a:xfrm>
          <a:prstGeom prst="rect">
            <a:avLst/>
          </a:prstGeom>
          <a:solidFill>
            <a:srgbClr val="3DDB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80760" y="4937760"/>
            <a:ext cx="285750" cy="914400"/>
          </a:xfrm>
          <a:prstGeom prst="rect">
            <a:avLst/>
          </a:prstGeom>
          <a:solidFill>
            <a:srgbClr val="40DB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57366" y="4937760"/>
            <a:ext cx="285750" cy="914400"/>
          </a:xfrm>
          <a:prstGeom prst="rect">
            <a:avLst/>
          </a:prstGeom>
          <a:solidFill>
            <a:srgbClr val="45DA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33972" y="4937760"/>
            <a:ext cx="285750" cy="914400"/>
          </a:xfrm>
          <a:prstGeom prst="rect">
            <a:avLst/>
          </a:prstGeom>
          <a:solidFill>
            <a:srgbClr val="4AD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10578" y="4937760"/>
            <a:ext cx="285750" cy="914400"/>
          </a:xfrm>
          <a:prstGeom prst="rect">
            <a:avLst/>
          </a:prstGeom>
          <a:solidFill>
            <a:srgbClr val="4FD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87184" y="4937760"/>
            <a:ext cx="285750" cy="914400"/>
          </a:xfrm>
          <a:prstGeom prst="rect">
            <a:avLst/>
          </a:prstGeom>
          <a:solidFill>
            <a:srgbClr val="54D6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63790" y="4937760"/>
            <a:ext cx="285750" cy="914400"/>
          </a:xfrm>
          <a:prstGeom prst="rect">
            <a:avLst/>
          </a:prstGeom>
          <a:solidFill>
            <a:srgbClr val="59D5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740396" y="4937760"/>
            <a:ext cx="285750" cy="914400"/>
          </a:xfrm>
          <a:prstGeom prst="rect">
            <a:avLst/>
          </a:prstGeom>
          <a:solidFill>
            <a:srgbClr val="5ED4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17002" y="4937760"/>
            <a:ext cx="285750" cy="914400"/>
          </a:xfrm>
          <a:prstGeom prst="rect">
            <a:avLst/>
          </a:prstGeom>
          <a:solidFill>
            <a:srgbClr val="63D2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93608" y="4937760"/>
            <a:ext cx="285750" cy="914400"/>
          </a:xfrm>
          <a:prstGeom prst="rect">
            <a:avLst/>
          </a:prstGeom>
          <a:solidFill>
            <a:srgbClr val="67D1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70214" y="4937760"/>
            <a:ext cx="285750" cy="914400"/>
          </a:xfrm>
          <a:prstGeom prst="rect">
            <a:avLst/>
          </a:prstGeom>
          <a:solidFill>
            <a:srgbClr val="6CD0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46820" y="4937760"/>
            <a:ext cx="285750" cy="914400"/>
          </a:xfrm>
          <a:prstGeom prst="rect">
            <a:avLst/>
          </a:prstGeom>
          <a:solidFill>
            <a:srgbClr val="71CF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123426" y="4937760"/>
            <a:ext cx="285750" cy="914400"/>
          </a:xfrm>
          <a:prstGeom prst="rect">
            <a:avLst/>
          </a:prstGeom>
          <a:solidFill>
            <a:srgbClr val="76CD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400032" y="4937760"/>
            <a:ext cx="285750" cy="914400"/>
          </a:xfrm>
          <a:prstGeom prst="rect">
            <a:avLst/>
          </a:prstGeom>
          <a:solidFill>
            <a:srgbClr val="7BCC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676638" y="4937760"/>
            <a:ext cx="285750" cy="914400"/>
          </a:xfrm>
          <a:prstGeom prst="rect">
            <a:avLst/>
          </a:prstGeom>
          <a:solidFill>
            <a:srgbClr val="80CB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953244" y="4937760"/>
            <a:ext cx="285750" cy="914400"/>
          </a:xfrm>
          <a:prstGeom prst="rect">
            <a:avLst/>
          </a:prstGeom>
          <a:solidFill>
            <a:srgbClr val="85C9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229850" y="4937760"/>
            <a:ext cx="285750" cy="914400"/>
          </a:xfrm>
          <a:prstGeom prst="rect">
            <a:avLst/>
          </a:prstGeom>
          <a:solidFill>
            <a:srgbClr val="8AC8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506456" y="4937760"/>
            <a:ext cx="285750" cy="914400"/>
          </a:xfrm>
          <a:prstGeom prst="rect">
            <a:avLst/>
          </a:prstGeom>
          <a:solidFill>
            <a:srgbClr val="8EC7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783062" y="4937760"/>
            <a:ext cx="285750" cy="914400"/>
          </a:xfrm>
          <a:prstGeom prst="rect">
            <a:avLst/>
          </a:prstGeom>
          <a:solidFill>
            <a:srgbClr val="93C6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059668" y="4937760"/>
            <a:ext cx="285750" cy="914400"/>
          </a:xfrm>
          <a:prstGeom prst="rect">
            <a:avLst/>
          </a:prstGeom>
          <a:solidFill>
            <a:srgbClr val="98C4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336274" y="4937760"/>
            <a:ext cx="285750" cy="914400"/>
          </a:xfrm>
          <a:prstGeom prst="rect">
            <a:avLst/>
          </a:prstGeom>
          <a:solidFill>
            <a:srgbClr val="9DC3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8640" y="592531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#23B591  →  #3EDC81  →  #9DC351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RAWINNIPA  /  BRAND IDENTITY GUIDELINES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TYPOGRAPHY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Typefaces.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for everything digital. Calibri as the office-safe fallback. No decorative fonts in brand materials.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577840" cy="38404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51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</a:t>
            </a:r>
            <a:endParaRPr lang="en-US" sz="8400" dirty="0"/>
          </a:p>
        </p:txBody>
      </p:sp>
      <p:sp>
        <p:nvSpPr>
          <p:cNvPr id="8" name="Text 6"/>
          <p:cNvSpPr/>
          <p:nvPr/>
        </p:nvSpPr>
        <p:spPr>
          <a:xfrm>
            <a:off x="822960" y="42976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 Bb Cc  1234567890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5029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· Medium · Semibold · Bold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5394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UI, website, presentations, pitch decks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5760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 · open license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2468880"/>
            <a:ext cx="5486400" cy="38404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651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0" y="29718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</a:t>
            </a:r>
            <a:endParaRPr lang="en-US" sz="8400" dirty="0"/>
          </a:p>
        </p:txBody>
      </p:sp>
      <p:sp>
        <p:nvSpPr>
          <p:cNvPr id="15" name="Text 13"/>
          <p:cNvSpPr/>
          <p:nvPr/>
        </p:nvSpPr>
        <p:spPr>
          <a:xfrm>
            <a:off x="6583680" y="42976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 Bb Cc  1234567890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583680" y="5029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· Bold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5394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documents, emails, internal files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5760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Preinstalled on all Office systems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RAWINNIPA  /  BRAND IDENTITY GUIDELINES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TYPOGRAPHY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roles, used consistently. Pick the role first — then the size follows.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 /  Display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926080" y="237744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what moves.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96112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 Bold  ·  52 / 60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3081528"/>
            <a:ext cx="1106424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186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 /  Section title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0" y="3035808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Software. Consulting.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961120" y="32644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 Bold  ·  34 / 42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3739896"/>
            <a:ext cx="1106424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7705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 /  Sub-heading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26080" y="3694176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years of delivery.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961120" y="392277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 Semibold  ·  22 / 30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4398264"/>
            <a:ext cx="1106424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53542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 /  Paragraph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0" y="4352544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words for complex systems.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61120" y="458114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 Regular  ·  14 / 22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5056632"/>
            <a:ext cx="1106424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1937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0" y="5010912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Labels, footnotes, timestamps.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961120" y="52395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 Regular  ·  11 / 16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5715000"/>
            <a:ext cx="1106424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852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Eyebrow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26080" y="566928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TAG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961120" y="5897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 Bold  ·  10 / 14  ·  Tracking +60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RAWINNIPA  /  BRAND IDENTITY GUIDELINES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VISUAL STYLE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language.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motifs you'll see everywhere the brand shows up.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8008" y="2468880"/>
            <a:ext cx="3566160" cy="1828800"/>
          </a:xfrm>
          <a:prstGeom prst="rect">
            <a:avLst/>
          </a:prstGeom>
          <a:solidFill>
            <a:srgbClr val="000000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8008" y="4434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CANVAS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8008" y="47548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and near-black grounds give content gravity and let green pop. Use for hero sections, covers, and formal decks.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12768" y="2468880"/>
            <a:ext cx="3566160" cy="1828800"/>
          </a:xfrm>
          <a:prstGeom prst="rect">
            <a:avLst/>
          </a:prstGeom>
          <a:solidFill>
            <a:srgbClr val="000000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38848" y="2468880"/>
            <a:ext cx="640080" cy="1828800"/>
          </a:xfrm>
          <a:prstGeom prst="rect">
            <a:avLst/>
          </a:prstGeom>
          <a:solidFill>
            <a:srgbClr val="3ED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12768" y="4434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ACCENT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12768" y="47548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green element per composition — a corner ribbon, a divider, a key word. Never flood the frame with green.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07528" y="2468880"/>
            <a:ext cx="3566160" cy="1828800"/>
          </a:xfrm>
          <a:prstGeom prst="rect">
            <a:avLst/>
          </a:prstGeom>
          <a:solidFill>
            <a:srgbClr val="000000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59288" y="3383280"/>
            <a:ext cx="777240" cy="777240"/>
          </a:xfrm>
          <a:prstGeom prst="ellipse">
            <a:avLst/>
          </a:prstGeom>
          <a:solidFill>
            <a:srgbClr val="23B591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93528" y="3063240"/>
            <a:ext cx="777240" cy="777240"/>
          </a:xfrm>
          <a:prstGeom prst="ellipse">
            <a:avLst/>
          </a:prstGeom>
          <a:solidFill>
            <a:srgbClr val="3EDC81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81848" y="2743200"/>
            <a:ext cx="320040" cy="320040"/>
          </a:xfrm>
          <a:prstGeom prst="rect">
            <a:avLst/>
          </a:prstGeom>
          <a:solidFill>
            <a:srgbClr val="3ED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07528" y="4434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+ FLUID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07528" y="47548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geometric layouts paired with fluid metallic shapes (as in the company profile) — structure meets movement.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RAWINNIPA  /  BRAND IDENTITY GUIDELINES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BRAND VOICE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sound.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talk like experienced engineers, not marketers. Plain, concrete, and confident.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09360" y="2651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AREN'T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54864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1089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3108960"/>
            <a:ext cx="54864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31089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54864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703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Plain-spoken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09360" y="3703320"/>
            <a:ext cx="54864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3703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Jargon-heavy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54864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2976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09360" y="4297680"/>
            <a:ext cx="54864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42976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Boastful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54864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8920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when needed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09360" y="4892040"/>
            <a:ext cx="54864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48920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for show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5486400"/>
            <a:ext cx="54864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4864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trade-offs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309360" y="5486400"/>
            <a:ext cx="54864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54864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Overpromising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RAWINNIPA  /  BRAND IDENTITY GUIDELINES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APPLICATIONS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wild.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standard touchpoints — business card, email signature, social avatar.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4846320" cy="2743200"/>
          </a:xfrm>
          <a:prstGeom prst="rect">
            <a:avLst/>
          </a:prstGeom>
          <a:solidFill>
            <a:srgbClr val="000000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0" y="2651760"/>
            <a:ext cx="365760" cy="2743200"/>
          </a:xfrm>
          <a:prstGeom prst="rect">
            <a:avLst/>
          </a:prstGeom>
          <a:solidFill>
            <a:srgbClr val="3EDC81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/home/claude/brand_ci/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9260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3063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RAWINNIPA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Rawin Srisantikul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44074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Consultant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47548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sayhi@rawinsoft.com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+66 98 265 9690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rawinsoft.com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55321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CARD  /  85 × 55 mm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852160" y="2651760"/>
            <a:ext cx="5852160" cy="150876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prstDash val="solid"/>
          </a:ln>
        </p:spPr>
      </p:sp>
      <p:pic>
        <p:nvPicPr>
          <p:cNvPr id="14" name="Image 1" descr="/home/claude/brand_ci/assets/logo_col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880360"/>
            <a:ext cx="1005840" cy="10058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223760" y="2880360"/>
            <a:ext cx="36576" cy="1051560"/>
          </a:xfrm>
          <a:prstGeom prst="rect">
            <a:avLst/>
          </a:prstGeom>
          <a:solidFill>
            <a:srgbClr val="3ED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06640" y="28529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Rawin Srisantikul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7406640" y="31546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Consultant  ·  Rawinnipa Co., Ltd.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7406640" y="345643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sayhi@rawinsoft.com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+66 98 265 9690  ·  rawinsoft.com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5852160" y="425196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SIGNATURE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852160" y="4800600"/>
            <a:ext cx="685800" cy="6858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3EDC81"/>
            </a:solidFill>
            <a:prstDash val="solid"/>
          </a:ln>
        </p:spPr>
      </p:sp>
      <p:pic>
        <p:nvPicPr>
          <p:cNvPr id="21" name="Image 2" descr="/home/claude/brand_ci/assets/logo_col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88" y="4910328"/>
            <a:ext cx="466344" cy="4663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29400" y="4965192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818120" y="4800600"/>
            <a:ext cx="685800" cy="6858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3EDC81"/>
            </a:solidFill>
            <a:prstDash val="solid"/>
          </a:ln>
        </p:spPr>
      </p:sp>
      <p:pic>
        <p:nvPicPr>
          <p:cNvPr id="24" name="Image 3" descr="/home/claude/brand_ci/assets/logo_col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7848" y="4910328"/>
            <a:ext cx="466344" cy="4663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595360" y="4965192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9784080" y="4800600"/>
            <a:ext cx="685800" cy="6858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3EDC81"/>
            </a:solidFill>
            <a:prstDash val="solid"/>
          </a:ln>
        </p:spPr>
      </p:sp>
      <p:pic>
        <p:nvPicPr>
          <p:cNvPr id="27" name="Image 4" descr="/home/claude/brand_ci/assets/logo_colo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3808" y="4910328"/>
            <a:ext cx="466344" cy="4663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561320" y="4965192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5852160" y="557784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AVATAR  /  CIRCULAR CROP OF LOGO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RAWINNIPA  /  BRAND IDENTITY GUIDELINES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6339682" y="-1828800"/>
            <a:ext cx="12191695" cy="10515600"/>
          </a:xfrm>
          <a:prstGeom prst="rect">
            <a:avLst/>
          </a:prstGeom>
          <a:solidFill>
            <a:srgbClr val="3EDC81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brand_ci/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021" y="2148840"/>
            <a:ext cx="2560320" cy="2560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09728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</a:t>
            </a:r>
            <a:endParaRPr lang="en-US" sz="7000" dirty="0"/>
          </a:p>
        </p:txBody>
      </p:sp>
      <p:sp>
        <p:nvSpPr>
          <p:cNvPr id="5" name="Text 2"/>
          <p:cNvSpPr/>
          <p:nvPr/>
        </p:nvSpPr>
        <p:spPr>
          <a:xfrm>
            <a:off x="731520" y="210312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touch.</a:t>
            </a:r>
            <a:endParaRPr lang="en-US" sz="7000" dirty="0"/>
          </a:p>
        </p:txBody>
      </p:sp>
      <p:sp>
        <p:nvSpPr>
          <p:cNvPr id="6" name="Text 3"/>
          <p:cNvSpPr/>
          <p:nvPr/>
        </p:nvSpPr>
        <p:spPr>
          <a:xfrm>
            <a:off x="73152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3152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sayhi@rawinsoft.com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5029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rawinsoft.com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5669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3ED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+66 98 265 9690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IDENTITY GUIDELINES  /  V 1.0  /  APRIL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Rawinnipa — Brand Identity Guidelines</dc:title>
  <dc:subject>PptxGenJS Presentation</dc:subject>
  <dc:creator>Rawinnipa Software and Consultants</dc:creator>
  <cp:lastModifiedBy>Rawinnipa Software and Consultants</cp:lastModifiedBy>
  <cp:revision>1</cp:revision>
  <dcterms:created xsi:type="dcterms:W3CDTF">2026-04-19T10:11:54Z</dcterms:created>
  <dcterms:modified xsi:type="dcterms:W3CDTF">2026-04-19T10:11:54Z</dcterms:modified>
</cp:coreProperties>
</file>